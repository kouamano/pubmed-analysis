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6"/>
    <p:restoredTop sz="94673"/>
  </p:normalViewPr>
  <p:slideViewPr>
    <p:cSldViewPr snapToGrid="0">
      <p:cViewPr varScale="1">
        <p:scale>
          <a:sx n="188" d="100"/>
          <a:sy n="188" d="100"/>
        </p:scale>
        <p:origin x="6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9A4C4E7-6CC5-92AD-2E4A-C895DCC3B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99522AE-57F6-EDBB-5EC2-FB770D758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E1CD57-7F14-505F-2544-212655611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BF8C90-50AF-9516-2D47-FEBECE35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BFECDDD-59EA-60E7-293A-7CA925BB7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60959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75EC04-5B8C-DC28-C040-B2E4D035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30808B-C964-D029-80FD-0C41C1CAE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938C34-B6C8-311A-8FB8-9FAEF4C73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D006F-E8EB-ED17-5BA7-E6CF72D0A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9B300F-B3CD-3D09-A6E9-D94F8CA2B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6876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B3F5B3-45AF-E152-C595-47A993741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5AF6E3-DCD7-41BA-0DCF-E88C12FE9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BBC43EF-53F6-9A8C-339F-43B1CF3E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23A401-03A7-A764-5FBD-3423D2FEE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F52877-D347-46CC-31D4-58CFFAE79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1212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188D03-F29A-F596-2BA8-1CEC5813A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D2F899B-F808-ED10-A73C-E4F1BEFD7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5E4876E-D616-D039-2B31-DDDB209BAB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4AFB937-3247-9C4E-E6BC-2D89BACD8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3502BD-2096-F028-3260-CA54FE17D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9BC8A28-2D78-26EE-AA08-882D4039C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1978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B2D53D-8534-88A3-E95E-87C10E713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43119F-7BDF-B688-6FD7-75698DE5C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F966058-3CAF-656F-5F19-B194B4ADDF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1AF9D76-0803-4330-F4F6-0F36A3E9D0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0F907E0-9222-DBA9-C6BB-D3A2DB22A6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CBDB023-F5FC-EEF3-3EE1-EDFFE0551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FE8906F-EE5D-D4C8-14B1-4D095F252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693D8EC3-B185-FFCF-0D8A-C53F1CDB4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809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FF6B6E-5046-B697-EB72-07597EAD8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C13F73D-A8D9-3D30-0D01-BAFCC5A9B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7310EFA-5DC7-2515-D077-418996E85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7F3A985-912D-EF9B-D1A9-9850D9AAB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9178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36690B5-DF39-EC98-3135-A2650FA9E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18031F3-D939-8636-A799-D52F3312D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B0A22F1-6F26-4812-D7BD-9DFAE4F4C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5478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734573-926F-66A6-AF1F-3EEEE474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3707D3-F3A7-066C-8BB1-62529711B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A280D7-4DF0-145E-73C3-776475ECC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8641D0-5BE3-AC73-8A29-952D36A0D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CD4C681-D073-077F-3019-08615B34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0EA09D-9509-D120-3682-02D851954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114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509EAE-AB9C-0304-43D1-5642FEBD3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2785B7-8E94-2D8B-7F3E-5D6FD719B8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3B35D06-AE39-A2E0-C5C5-D17541A8EB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AD01CE-8EF5-6D66-9A8D-8B875F60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291995-DD90-60FD-1545-09C7DB042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E663227-FE43-FA4B-B5D1-3BF8CE08F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1254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5D0C26-77C4-C02D-2DC5-79E8736017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8172FF-338C-D356-842F-8A35F95A2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A2EA037-64A6-5B59-67A9-A6396A60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7032CD-8F10-DAC4-06C9-2FE8D0A96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35B001-82A5-296B-AF8F-CA2931F42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9175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780A2027-1B31-9CEA-3B9C-91E1D810A5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C679EE9-1B98-6BAD-AA96-C10D0A748E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9287AB-AA8C-28EC-57BE-467A5BD06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35175F-3126-D075-69D1-AC231AD0F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6D8296-393D-D2B6-F52D-0524FB162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251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4DB2668-3422-06C2-C668-DBDE01F26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3D30A4-E874-1E6D-BC4A-CF1D53F03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C95BC7-EF7B-F6F4-50BA-D85097A1E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931AE5-2F67-6B4C-B4F8-9891BA27CE4E}" type="datetimeFigureOut">
              <a:t>2026/8/25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A84A749-E635-8DFB-7FA7-FC73ACD46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8150F0-6784-A669-CEC2-3BC4EF926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DA8630-1B75-3F4B-B495-6E88366176B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007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曲線コネクタ 4">
            <a:extLst>
              <a:ext uri="{FF2B5EF4-FFF2-40B4-BE49-F238E27FC236}">
                <a16:creationId xmlns:a16="http://schemas.microsoft.com/office/drawing/2014/main" id="{29AACAFF-0289-7242-1262-809D91630BA5}"/>
              </a:ext>
            </a:extLst>
          </p:cNvPr>
          <p:cNvCxnSpPr>
            <a:cxnSpLocks/>
          </p:cNvCxnSpPr>
          <p:nvPr/>
        </p:nvCxnSpPr>
        <p:spPr>
          <a:xfrm flipV="1">
            <a:off x="3964456" y="2039112"/>
            <a:ext cx="3492365" cy="3476422"/>
          </a:xfrm>
          <a:prstGeom prst="curvedConnector3">
            <a:avLst>
              <a:gd name="adj1" fmla="val 43192"/>
            </a:avLst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6944A009-880F-34EC-19F8-DE753C1FC9D5}"/>
              </a:ext>
            </a:extLst>
          </p:cNvPr>
          <p:cNvCxnSpPr>
            <a:cxnSpLocks/>
          </p:cNvCxnSpPr>
          <p:nvPr/>
        </p:nvCxnSpPr>
        <p:spPr>
          <a:xfrm flipV="1">
            <a:off x="3943191" y="2049744"/>
            <a:ext cx="3513629" cy="34764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5AF73DB-EACD-5F28-00C1-14E948442B6F}"/>
              </a:ext>
            </a:extLst>
          </p:cNvPr>
          <p:cNvSpPr/>
          <p:nvPr/>
        </p:nvSpPr>
        <p:spPr>
          <a:xfrm>
            <a:off x="3943192" y="2039112"/>
            <a:ext cx="3513629" cy="3487054"/>
          </a:xfrm>
          <a:prstGeom prst="rect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4370F81-3D20-B292-2953-3671E1A79ACA}"/>
              </a:ext>
            </a:extLst>
          </p:cNvPr>
          <p:cNvSpPr txBox="1"/>
          <p:nvPr/>
        </p:nvSpPr>
        <p:spPr>
          <a:xfrm>
            <a:off x="4581144" y="4734807"/>
            <a:ext cx="445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A</a:t>
            </a:r>
            <a:r>
              <a:rPr kumimoji="1" lang="en-US" altLang="ja-JP" baseline="30000"/>
              <a:t>+</a:t>
            </a:r>
            <a:endParaRPr kumimoji="1" lang="ja-JP" altLang="en-US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1A38F2A-B7E6-8475-2B87-8BE69AA3E53C}"/>
              </a:ext>
            </a:extLst>
          </p:cNvPr>
          <p:cNvSpPr txBox="1"/>
          <p:nvPr/>
        </p:nvSpPr>
        <p:spPr>
          <a:xfrm>
            <a:off x="6146324" y="2617371"/>
            <a:ext cx="401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A</a:t>
            </a:r>
            <a:r>
              <a:rPr kumimoji="1" lang="en-US" altLang="ja-JP" baseline="30000"/>
              <a:t>-</a:t>
            </a:r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E8893F0-B726-05DE-9124-B19DA704E0B8}"/>
              </a:ext>
            </a:extLst>
          </p:cNvPr>
          <p:cNvSpPr txBox="1"/>
          <p:nvPr/>
        </p:nvSpPr>
        <p:spPr>
          <a:xfrm>
            <a:off x="7262466" y="5535609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1.0</a:t>
            </a:r>
            <a:endParaRPr kumimoji="1" lang="ja-JP" altLang="en-US" sz="120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33DADE93-F965-F3E7-6ECE-476AC411FBAC}"/>
              </a:ext>
            </a:extLst>
          </p:cNvPr>
          <p:cNvSpPr txBox="1"/>
          <p:nvPr/>
        </p:nvSpPr>
        <p:spPr>
          <a:xfrm flipH="1">
            <a:off x="3581397" y="1906038"/>
            <a:ext cx="416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/>
              <a:t>1.0</a:t>
            </a:r>
            <a:endParaRPr kumimoji="1" lang="ja-JP" altLang="en-US" sz="1200"/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57F60E84-E0EB-97F3-99C2-417D96BE1561}"/>
              </a:ext>
            </a:extLst>
          </p:cNvPr>
          <p:cNvCxnSpPr/>
          <p:nvPr/>
        </p:nvCxnSpPr>
        <p:spPr>
          <a:xfrm>
            <a:off x="7677785" y="2499995"/>
            <a:ext cx="30175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F9661D7-239B-D83C-42C5-035BD33C31FC}"/>
              </a:ext>
            </a:extLst>
          </p:cNvPr>
          <p:cNvSpPr txBox="1"/>
          <p:nvPr/>
        </p:nvSpPr>
        <p:spPr>
          <a:xfrm>
            <a:off x="7986310" y="2367267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均等分配線</a:t>
            </a:r>
            <a:endParaRPr lang="en-US" altLang="ja-JP" sz="1200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B01D2573-78B5-9B56-B009-C6A9FF621A42}"/>
              </a:ext>
            </a:extLst>
          </p:cNvPr>
          <p:cNvCxnSpPr/>
          <p:nvPr/>
        </p:nvCxnSpPr>
        <p:spPr>
          <a:xfrm>
            <a:off x="7671012" y="2249676"/>
            <a:ext cx="301752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509C2CAA-C35C-3385-CA8E-DB393ACAF395}"/>
              </a:ext>
            </a:extLst>
          </p:cNvPr>
          <p:cNvSpPr txBox="1"/>
          <p:nvPr/>
        </p:nvSpPr>
        <p:spPr>
          <a:xfrm>
            <a:off x="7986310" y="2111176"/>
            <a:ext cx="12618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200"/>
              <a:t>被引用累積曲線</a:t>
            </a:r>
            <a:endParaRPr lang="en-US" altLang="ja-JP" sz="120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8E8C254-CBF2-D1ED-7ABC-2FB95DB4E496}"/>
              </a:ext>
            </a:extLst>
          </p:cNvPr>
          <p:cNvSpPr txBox="1"/>
          <p:nvPr/>
        </p:nvSpPr>
        <p:spPr>
          <a:xfrm>
            <a:off x="3734387" y="5535316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/>
              <a:t>0</a:t>
            </a:r>
            <a:endParaRPr kumimoji="1" lang="ja-JP" altLang="en-US" sz="12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CF9D01A-0917-1717-78A8-CB08AF9ADFF8}"/>
              </a:ext>
            </a:extLst>
          </p:cNvPr>
          <p:cNvSpPr txBox="1"/>
          <p:nvPr/>
        </p:nvSpPr>
        <p:spPr>
          <a:xfrm>
            <a:off x="6254596" y="4734807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>
                <a:solidFill>
                  <a:schemeClr val="accent2"/>
                </a:solidFill>
              </a:rPr>
              <a:t>B</a:t>
            </a:r>
            <a:endParaRPr kumimoji="1" lang="ja-JP" altLang="en-US">
              <a:solidFill>
                <a:schemeClr val="accent2"/>
              </a:solidFill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B262F0-CFD9-509C-DEFD-F51C85D7A30F}"/>
              </a:ext>
            </a:extLst>
          </p:cNvPr>
          <p:cNvSpPr txBox="1"/>
          <p:nvPr/>
        </p:nvSpPr>
        <p:spPr>
          <a:xfrm>
            <a:off x="7671012" y="3211961"/>
            <a:ext cx="165620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00"/>
              <a:t>Gs = A/(A+B)</a:t>
            </a:r>
          </a:p>
          <a:p>
            <a:r>
              <a:rPr lang="en-US" altLang="ja-JP" sz="1000"/>
              <a:t>A = A</a:t>
            </a:r>
            <a:r>
              <a:rPr lang="en-US" altLang="ja-JP" sz="1000" baseline="30000"/>
              <a:t>-</a:t>
            </a:r>
            <a:r>
              <a:rPr lang="en-US" altLang="ja-JP" sz="1000"/>
              <a:t> + A</a:t>
            </a:r>
            <a:r>
              <a:rPr lang="en-US" altLang="ja-JP" sz="1000" baseline="30000"/>
              <a:t>+</a:t>
            </a:r>
          </a:p>
          <a:p>
            <a:r>
              <a:rPr lang="en-US" altLang="ja-JP" sz="1000"/>
              <a:t>A</a:t>
            </a:r>
            <a:r>
              <a:rPr lang="en-US" altLang="ja-JP" sz="1000" baseline="30000"/>
              <a:t>-</a:t>
            </a:r>
            <a:r>
              <a:rPr lang="en-US" altLang="ja-JP" sz="1000"/>
              <a:t> : </a:t>
            </a:r>
            <a:r>
              <a:rPr lang="ja-JP" altLang="en-US" sz="1000"/>
              <a:t>均等分配線とそれより上にある被引用累積曲線</a:t>
            </a:r>
            <a:r>
              <a:rPr kumimoji="1" lang="ja-JP" altLang="en-US" sz="1000"/>
              <a:t>に囲まれる面積（負）</a:t>
            </a:r>
            <a:endParaRPr lang="en-US" altLang="ja-JP" sz="1000"/>
          </a:p>
          <a:p>
            <a:r>
              <a:rPr kumimoji="1" lang="en-US" altLang="ja-JP" sz="1000"/>
              <a:t>A</a:t>
            </a:r>
            <a:r>
              <a:rPr kumimoji="1" lang="en-US" altLang="ja-JP" sz="1000" baseline="30000"/>
              <a:t>+</a:t>
            </a:r>
            <a:r>
              <a:rPr lang="en-US" altLang="ja-JP" sz="1000"/>
              <a:t> :</a:t>
            </a:r>
            <a:r>
              <a:rPr lang="ja-JP" altLang="en-US" sz="1000"/>
              <a:t>均等分配線とそれより下にある被引用累積曲線に囲まれる面積（正）</a:t>
            </a:r>
            <a:endParaRPr lang="en-US" altLang="ja-JP" sz="1000"/>
          </a:p>
          <a:p>
            <a:r>
              <a:rPr lang="en-US" altLang="ja-JP" sz="1000"/>
              <a:t>B :</a:t>
            </a:r>
            <a:r>
              <a:rPr lang="ja-JP" altLang="en-US" sz="1000"/>
              <a:t>被引用累積曲線より下の面積</a:t>
            </a:r>
            <a:endParaRPr lang="en-US" altLang="ja-JP" sz="1000"/>
          </a:p>
        </p:txBody>
      </p:sp>
    </p:spTree>
    <p:extLst>
      <p:ext uri="{BB962C8B-B14F-4D97-AF65-F5344CB8AC3E}">
        <p14:creationId xmlns:p14="http://schemas.microsoft.com/office/powerpoint/2010/main" val="2361461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78</Words>
  <Application>Microsoft Macintosh PowerPoint</Application>
  <PresentationFormat>ワイド画面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天野　晃</dc:creator>
  <cp:lastModifiedBy>天野　晃</cp:lastModifiedBy>
  <cp:revision>11</cp:revision>
  <dcterms:created xsi:type="dcterms:W3CDTF">2026-08-21T09:09:01Z</dcterms:created>
  <dcterms:modified xsi:type="dcterms:W3CDTF">2026-08-25T00:28:00Z</dcterms:modified>
</cp:coreProperties>
</file>