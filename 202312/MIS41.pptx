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94658"/>
  </p:normalViewPr>
  <p:slideViewPr>
    <p:cSldViewPr snapToGrid="0">
      <p:cViewPr varScale="1">
        <p:scale>
          <a:sx n="120" d="100"/>
          <a:sy n="120" d="100"/>
        </p:scale>
        <p:origin x="1088"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2026/5/14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2026/5/14</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2026/5/14</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2079917"/>
            <a:ext cx="12192000" cy="3416320"/>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 altLang="ja-JP"/>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多峰性</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82740"/>
            <a:ext cx="2759089" cy="369332"/>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2891630"/>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783688"/>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53089" y="3783687"/>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53114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352072"/>
            <a:ext cx="2" cy="539558"/>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07992" y="2824146"/>
            <a:ext cx="522725" cy="139635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20043" y="2832554"/>
            <a:ext cx="522726"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12190" y="4005816"/>
            <a:ext cx="531141" cy="137954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24240" y="3997412"/>
            <a:ext cx="531140"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486325" y="2660797"/>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4"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2" cy="302331"/>
          </a:xfrm>
          <a:prstGeom prst="bentConnector3">
            <a:avLst>
              <a:gd name="adj1" fmla="val 55155"/>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197741"/>
            <a:ext cx="220351" cy="8508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04247"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398692" y="1458805"/>
            <a:ext cx="2392660" cy="1164362"/>
          </a:xfrm>
          <a:prstGeom prst="bentConnector3">
            <a:avLst>
              <a:gd name="adj1" fmla="val 4753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292810" y="5828039"/>
            <a:ext cx="2733415" cy="830997"/>
          </a:xfrm>
          <a:prstGeom prst="rect">
            <a:avLst/>
          </a:prstGeom>
          <a:noFill/>
        </p:spPr>
        <p:txBody>
          <a:bodyPr wrap="square" rtlCol="0">
            <a:spAutoFit/>
          </a:bodyPr>
          <a:lstStyle/>
          <a:p>
            <a:r>
              <a:rPr kumimoji="1" lang="en-US" altLang="ja-JP" sz="1200"/>
              <a:t>*https://sites.wip.nlm.nih.gov/bsd/medline_pubmed_production_stats.html</a:t>
            </a:r>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13044"/>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82740"/>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2887766"/>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076296"/>
            <a:ext cx="3443005" cy="0"/>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416501" y="3488683"/>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4027164" y="6275605"/>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379377" y="2671278"/>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931118" y="2671278"/>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996045"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440983"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4119157" y="2794389"/>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565366" y="2871333"/>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58352" y="510047"/>
            <a:ext cx="5833648" cy="1754326"/>
          </a:xfrm>
          <a:prstGeom prst="rect">
            <a:avLst/>
          </a:prstGeom>
          <a:noFill/>
        </p:spPr>
        <p:txBody>
          <a:bodyPr wrap="none" rtlCol="0">
            <a:spAutoFit/>
          </a:bodyPr>
          <a:lstStyle/>
          <a:p>
            <a:r>
              <a:rPr kumimoji="1" lang="ja-JP" altLang="en-US"/>
              <a:t>上位</a:t>
            </a:r>
            <a:r>
              <a:rPr kumimoji="1" lang="en-US" altLang="ja-JP" dirty="0"/>
              <a:t>1000</a:t>
            </a:r>
            <a:r>
              <a:rPr lang="ja-JP" altLang="en-US"/>
              <a:t>論文以外</a:t>
            </a:r>
            <a:endParaRPr lang="en-US" altLang="ja-JP" dirty="0"/>
          </a:p>
          <a:p>
            <a:pPr marL="285750" indent="-285750">
              <a:buFont typeface="Arial" panose="020B0604020202020204" pitchFamily="34" charset="0"/>
              <a:buChar char="•"/>
            </a:pPr>
            <a:r>
              <a:rPr kumimoji="1" lang="en-US" altLang="ja-JP" dirty="0"/>
              <a:t>4</a:t>
            </a:r>
            <a:r>
              <a:rPr kumimoji="1" lang="ja-JP" altLang="en-US"/>
              <a:t>分位区間それぞれの上位</a:t>
            </a:r>
            <a:r>
              <a:rPr kumimoji="1" lang="en-US" altLang="ja-JP" dirty="0"/>
              <a:t>1000</a:t>
            </a:r>
            <a:r>
              <a:rPr kumimoji="1" lang="ja-JP" altLang="en-US"/>
              <a:t>件を抽出</a:t>
            </a:r>
            <a:r>
              <a:rPr lang="ja-JP" altLang="en-US"/>
              <a:t>したが</a:t>
            </a:r>
            <a:endParaRPr kumimoji="1" lang="en-US" altLang="ja-JP" dirty="0"/>
          </a:p>
          <a:p>
            <a:pPr marL="285750" indent="-285750">
              <a:buFont typeface="Arial" panose="020B0604020202020204" pitchFamily="34" charset="0"/>
              <a:buChar char="•"/>
            </a:pPr>
            <a:r>
              <a:rPr lang="ja-JP" altLang="en-US"/>
              <a:t>第</a:t>
            </a:r>
            <a:r>
              <a:rPr lang="en-US" altLang="ja-JP" dirty="0"/>
              <a:t>2~4</a:t>
            </a:r>
            <a:r>
              <a:rPr lang="ja-JP" altLang="en-US"/>
              <a:t>分位区間では</a:t>
            </a:r>
            <a:endParaRPr lang="en-US" altLang="ja-JP" dirty="0"/>
          </a:p>
          <a:p>
            <a:pPr marL="742950" lvl="1" indent="-285750">
              <a:buFont typeface="Arial" panose="020B0604020202020204" pitchFamily="34" charset="0"/>
              <a:buChar char="•"/>
            </a:pPr>
            <a:r>
              <a:rPr kumimoji="1" lang="ja-JP" altLang="en-US"/>
              <a:t>被引用数が少ない（</a:t>
            </a:r>
            <a:r>
              <a:rPr kumimoji="1" lang="en-US" altLang="ja-JP" dirty="0"/>
              <a:t>2~11</a:t>
            </a:r>
            <a:r>
              <a:rPr kumimoji="1" lang="ja-JP" altLang="en-US"/>
              <a:t>）</a:t>
            </a:r>
            <a:endParaRPr kumimoji="1" lang="en-US" altLang="ja-JP" dirty="0"/>
          </a:p>
          <a:p>
            <a:pPr marL="742950" lvl="1" indent="-285750">
              <a:buFont typeface="Arial" panose="020B0604020202020204" pitchFamily="34" charset="0"/>
              <a:buChar char="•"/>
            </a:pPr>
            <a:r>
              <a:rPr lang="ja-JP" altLang="en-US"/>
              <a:t>区間内論文の被引用数が全て同じ（</a:t>
            </a:r>
            <a:r>
              <a:rPr lang="en-US" altLang="ja-JP" dirty="0"/>
              <a:t>2</a:t>
            </a:r>
            <a:r>
              <a:rPr lang="ja-JP" altLang="en-US"/>
              <a:t>、</a:t>
            </a:r>
            <a:r>
              <a:rPr lang="en-US" altLang="ja-JP" dirty="0"/>
              <a:t>4</a:t>
            </a:r>
            <a:r>
              <a:rPr lang="ja-JP" altLang="en-US"/>
              <a:t>、</a:t>
            </a:r>
            <a:r>
              <a:rPr lang="en-US" altLang="ja-JP" dirty="0"/>
              <a:t>11</a:t>
            </a:r>
            <a:r>
              <a:rPr lang="ja-JP" altLang="en-US"/>
              <a:t>）</a:t>
            </a:r>
            <a:endParaRPr kumimoji="1" lang="en-US" altLang="ja-JP" dirty="0"/>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オブソレッセンスが確認された論文とそうでない論文の間に多峰性の差は極めて小さく、関係しないものと考えられる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6474849" cy="923330"/>
          </a:xfrm>
          <a:prstGeom prst="rect">
            <a:avLst/>
          </a:prstGeom>
          <a:noFill/>
        </p:spPr>
        <p:txBody>
          <a:bodyPr wrap="non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808</TotalTime>
  <Words>995</Words>
  <Application>Microsoft Macintosh PowerPoint</Application>
  <PresentationFormat>ワイド画面</PresentationFormat>
  <Paragraphs>130</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117</cp:revision>
  <dcterms:created xsi:type="dcterms:W3CDTF">2026-05-11T07:04:57Z</dcterms:created>
  <dcterms:modified xsi:type="dcterms:W3CDTF">2026-05-14T02:58:49Z</dcterms:modified>
</cp:coreProperties>
</file>