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8" r:id="rId8"/>
    <p:sldId id="266" r:id="rId9"/>
    <p:sldId id="264" r:id="rId10"/>
    <p:sldId id="265" r:id="rId11"/>
    <p:sldId id="267"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455"/>
    <p:restoredTop sz="94658"/>
  </p:normalViewPr>
  <p:slideViewPr>
    <p:cSldViewPr snapToGrid="0">
      <p:cViewPr varScale="1">
        <p:scale>
          <a:sx n="120" d="100"/>
          <a:sy n="120" d="100"/>
        </p:scale>
        <p:origin x="14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6ED7C-0D2F-D44D-81F8-4029A7FBE0FF}" type="datetimeFigureOut">
              <a:t>2026/7/28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77321-DEE7-7F4E-84BB-2CD11C156459}" type="slidenum">
              <a:t>‹#›</a:t>
            </a:fld>
            <a:endParaRPr kumimoji="1" lang="ja-JP" altLang="en-US"/>
          </a:p>
        </p:txBody>
      </p:sp>
    </p:spTree>
    <p:extLst>
      <p:ext uri="{BB962C8B-B14F-4D97-AF65-F5344CB8AC3E}">
        <p14:creationId xmlns:p14="http://schemas.microsoft.com/office/powerpoint/2010/main" val="2503968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発表</a:t>
            </a:r>
            <a:r>
              <a:rPr kumimoji="1" lang="en-US" altLang="ja-JP"/>
              <a:t>12</a:t>
            </a:r>
            <a:r>
              <a:rPr kumimoji="1" lang="ja-JP" altLang="en-US"/>
              <a:t>分、質疑応答</a:t>
            </a:r>
            <a:r>
              <a:rPr kumimoji="1" lang="en-US" altLang="ja-JP"/>
              <a:t>3</a:t>
            </a:r>
            <a:r>
              <a:rPr kumimoji="1" lang="ja-JP" altLang="en-US"/>
              <a:t>分。</a:t>
            </a:r>
            <a:endParaRPr kumimoji="1"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27977321-DEE7-7F4E-84BB-2CD11C156459}" type="slidenum">
              <a:rPr lang="en-US" altLang="ja-JP"/>
              <a:t>1</a:t>
            </a:fld>
            <a:endParaRPr kumimoji="1" lang="ja-JP" altLang="en-US"/>
          </a:p>
        </p:txBody>
      </p:sp>
    </p:spTree>
    <p:extLst>
      <p:ext uri="{BB962C8B-B14F-4D97-AF65-F5344CB8AC3E}">
        <p14:creationId xmlns:p14="http://schemas.microsoft.com/office/powerpoint/2010/main" val="2104620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27977321-DEE7-7F4E-84BB-2CD11C156459}" type="slidenum">
              <a:t>5</a:t>
            </a:fld>
            <a:endParaRPr kumimoji="1" lang="ja-JP" altLang="en-US"/>
          </a:p>
        </p:txBody>
      </p:sp>
    </p:spTree>
    <p:extLst>
      <p:ext uri="{BB962C8B-B14F-4D97-AF65-F5344CB8AC3E}">
        <p14:creationId xmlns:p14="http://schemas.microsoft.com/office/powerpoint/2010/main" val="171326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6B814E-C2F9-06C4-0911-219FA01718A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369C119-219D-9F49-D926-5EFE697AD1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1092D50-E610-111C-6804-683C087AF336}"/>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5" name="フッター プレースホルダー 4">
            <a:extLst>
              <a:ext uri="{FF2B5EF4-FFF2-40B4-BE49-F238E27FC236}">
                <a16:creationId xmlns:a16="http://schemas.microsoft.com/office/drawing/2014/main" id="{B52ABBA8-EF0B-2C99-704F-641D1DA4BA1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9BFF9C9-00D5-A4D8-D750-5047903BB87A}"/>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420202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188090-289B-9379-0E90-9D6E9C3C72A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A407B59-1C9B-98C3-C1AC-8A658CF30AE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0E59B01-648A-9FC7-1BD9-31B54FC50F04}"/>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5" name="フッター プレースホルダー 4">
            <a:extLst>
              <a:ext uri="{FF2B5EF4-FFF2-40B4-BE49-F238E27FC236}">
                <a16:creationId xmlns:a16="http://schemas.microsoft.com/office/drawing/2014/main" id="{0F242EDC-C981-7664-10AF-DADBE3F07E0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AEAA26-C444-2ED9-A500-5C4DA4666CAB}"/>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3471540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B10C70-373F-17C4-CA32-3D433C79F34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EEB26D4-A260-CE66-48E9-92B16CEE05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7A5AECA-428E-F12D-1516-288715B80548}"/>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5" name="フッター プレースホルダー 4">
            <a:extLst>
              <a:ext uri="{FF2B5EF4-FFF2-40B4-BE49-F238E27FC236}">
                <a16:creationId xmlns:a16="http://schemas.microsoft.com/office/drawing/2014/main" id="{690E0676-D6D6-1E05-3097-599AB40D9CB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733024C-C213-4955-6893-7CD1379BF0D9}"/>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3123631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1FBB62-421F-42AA-A2BF-C0B456A6040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EA89D72-E67C-7A88-A13A-46D163AC93A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931BC67-EE13-AC97-655D-49E6B77C21A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BDEE409-2691-4902-0D11-5DE26C1DC1C8}"/>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6" name="フッター プレースホルダー 5">
            <a:extLst>
              <a:ext uri="{FF2B5EF4-FFF2-40B4-BE49-F238E27FC236}">
                <a16:creationId xmlns:a16="http://schemas.microsoft.com/office/drawing/2014/main" id="{9DEBF52F-2DE7-6A2C-19CE-3D14395FE5F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F8973EB-ECC4-7BF9-6615-1585017A06FB}"/>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2225405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C0EF9A-3DDE-437D-0D08-DDFAA8EEA3F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403E94D-CC75-6E92-7105-0C5BF7FBF8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F75EDAA-96E2-1F0F-71D5-A92C5FB5001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F280FC2-2864-5637-C76B-DB747486FC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8D95B5-2650-5EA7-FE21-80096F691E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5445C21-5C55-1E7A-EC6B-68FE5AC126EA}"/>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8" name="フッター プレースホルダー 7">
            <a:extLst>
              <a:ext uri="{FF2B5EF4-FFF2-40B4-BE49-F238E27FC236}">
                <a16:creationId xmlns:a16="http://schemas.microsoft.com/office/drawing/2014/main" id="{5A53E15D-6BD7-5376-9134-7462B9246C1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299FA02-45B5-60A4-276F-8EE5EC6E3882}"/>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529103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931BA8-B4EB-F1FE-88F7-9EAC66C81AD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AEFF255-85F2-5AEA-DFD3-66670D83D79A}"/>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4" name="フッター プレースホルダー 3">
            <a:extLst>
              <a:ext uri="{FF2B5EF4-FFF2-40B4-BE49-F238E27FC236}">
                <a16:creationId xmlns:a16="http://schemas.microsoft.com/office/drawing/2014/main" id="{ED11C1D9-27C0-B4E1-4368-ACC0AC97413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2405715-6910-4AF9-62FE-76E5771DBF33}"/>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16463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6149643-AE27-4838-9FD8-47B2A08B92D0}"/>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3" name="フッター プレースホルダー 2">
            <a:extLst>
              <a:ext uri="{FF2B5EF4-FFF2-40B4-BE49-F238E27FC236}">
                <a16:creationId xmlns:a16="http://schemas.microsoft.com/office/drawing/2014/main" id="{0DECABFD-CFD1-6B8F-467C-CE5CCD288C6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2F4602A-13CE-2969-82DA-0D94DAB8EE2D}"/>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1121109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237853-7CBD-3426-0581-63B97BC0B1B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32ADA4-F5E0-6F65-07FE-4636343069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2D55C94-DC89-0A9D-04BF-2138F59558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F9071DC-8A22-1073-686A-AF59A757D09B}"/>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6" name="フッター プレースホルダー 5">
            <a:extLst>
              <a:ext uri="{FF2B5EF4-FFF2-40B4-BE49-F238E27FC236}">
                <a16:creationId xmlns:a16="http://schemas.microsoft.com/office/drawing/2014/main" id="{23C8E5B9-5522-85F3-C44F-E68D317AAAD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5E25334-5E19-56CB-09B9-3269D0FFD905}"/>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521548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12E1D1-49CA-D040-9923-D4186318478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A8175C-82C9-7A1A-859E-6CA201F9E4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FFF65BF-DDDA-986D-2B34-E9E3EF2B43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1FA97DE-1BEA-A92C-0D3D-44DF4468A6B4}"/>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6" name="フッター プレースホルダー 5">
            <a:extLst>
              <a:ext uri="{FF2B5EF4-FFF2-40B4-BE49-F238E27FC236}">
                <a16:creationId xmlns:a16="http://schemas.microsoft.com/office/drawing/2014/main" id="{CEF27C48-0F69-DCD5-BC87-EB7F86A00E0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2720286-7A2D-9EA7-D3F7-2A48FCBEA0B9}"/>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166696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4EBABA-9358-79DF-CC83-656ACFEFEF9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ED6D2BC-2C23-99E2-E3A0-848669B4E55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0032BAD-0201-09D0-018D-B038A3D3E2E1}"/>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5" name="フッター プレースホルダー 4">
            <a:extLst>
              <a:ext uri="{FF2B5EF4-FFF2-40B4-BE49-F238E27FC236}">
                <a16:creationId xmlns:a16="http://schemas.microsoft.com/office/drawing/2014/main" id="{8184A2B8-F083-7A37-2CC0-62C36E3ACE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89EE3D-95EB-44BE-47A8-4FCE5E6F5142}"/>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1472523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429982C-EF29-9472-4532-8125D6CF8B9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B5A57D0-3040-3F89-E348-EE3431237D5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FB846E6-920D-7910-5461-14956F3F3CE8}"/>
              </a:ext>
            </a:extLst>
          </p:cNvPr>
          <p:cNvSpPr>
            <a:spLocks noGrp="1"/>
          </p:cNvSpPr>
          <p:nvPr>
            <p:ph type="dt" sz="half" idx="10"/>
          </p:nvPr>
        </p:nvSpPr>
        <p:spPr/>
        <p:txBody>
          <a:bodyPr/>
          <a:lstStyle/>
          <a:p>
            <a:fld id="{B6986787-D869-A342-B24E-761DB6FBB920}" type="datetimeFigureOut">
              <a:t>2026/7/28</a:t>
            </a:fld>
            <a:endParaRPr kumimoji="1" lang="ja-JP" altLang="en-US"/>
          </a:p>
        </p:txBody>
      </p:sp>
      <p:sp>
        <p:nvSpPr>
          <p:cNvPr id="5" name="フッター プレースホルダー 4">
            <a:extLst>
              <a:ext uri="{FF2B5EF4-FFF2-40B4-BE49-F238E27FC236}">
                <a16:creationId xmlns:a16="http://schemas.microsoft.com/office/drawing/2014/main" id="{11DFF1FD-0595-3331-7576-4F7134E9A7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D7F69D-92F5-3543-51F1-8C2F1FB15E23}"/>
              </a:ext>
            </a:extLst>
          </p:cNvPr>
          <p:cNvSpPr>
            <a:spLocks noGrp="1"/>
          </p:cNvSpPr>
          <p:nvPr>
            <p:ph type="sldNum" sz="quarter" idx="12"/>
          </p:nvPr>
        </p:nvSpPr>
        <p:spPr/>
        <p:txBody>
          <a:bodyPr/>
          <a:lstStyle/>
          <a:p>
            <a:fld id="{C71411FD-B7AD-5D45-BF5B-AD8CE04BE17B}" type="slidenum">
              <a:t>‹#›</a:t>
            </a:fld>
            <a:endParaRPr kumimoji="1" lang="ja-JP" altLang="en-US"/>
          </a:p>
        </p:txBody>
      </p:sp>
    </p:spTree>
    <p:extLst>
      <p:ext uri="{BB962C8B-B14F-4D97-AF65-F5344CB8AC3E}">
        <p14:creationId xmlns:p14="http://schemas.microsoft.com/office/powerpoint/2010/main" val="2981310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A315518-7389-BC37-FD43-EB4F79C6E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5BA2E1F-94A3-558E-C820-A83036655E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20C497-22F5-68E5-556A-07310A0C46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986787-D869-A342-B24E-761DB6FBB920}" type="datetimeFigureOut">
              <a:t>2026/7/28</a:t>
            </a:fld>
            <a:endParaRPr kumimoji="1" lang="ja-JP" altLang="en-US"/>
          </a:p>
        </p:txBody>
      </p:sp>
      <p:sp>
        <p:nvSpPr>
          <p:cNvPr id="5" name="フッター プレースホルダー 4">
            <a:extLst>
              <a:ext uri="{FF2B5EF4-FFF2-40B4-BE49-F238E27FC236}">
                <a16:creationId xmlns:a16="http://schemas.microsoft.com/office/drawing/2014/main" id="{155557B1-77C6-E9DC-9B17-2262C85E57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2917CFA-7E74-33B0-417B-DA629AF2C5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1411FD-B7AD-5D45-BF5B-AD8CE04BE17B}" type="slidenum">
              <a:t>‹#›</a:t>
            </a:fld>
            <a:endParaRPr kumimoji="1" lang="ja-JP" altLang="en-US"/>
          </a:p>
        </p:txBody>
      </p:sp>
    </p:spTree>
    <p:extLst>
      <p:ext uri="{BB962C8B-B14F-4D97-AF65-F5344CB8AC3E}">
        <p14:creationId xmlns:p14="http://schemas.microsoft.com/office/powerpoint/2010/main" val="1110941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A23059-DC68-B5AD-FF30-008FE556D466}"/>
              </a:ext>
            </a:extLst>
          </p:cNvPr>
          <p:cNvSpPr>
            <a:spLocks noGrp="1"/>
          </p:cNvSpPr>
          <p:nvPr>
            <p:ph type="ctrTitle"/>
          </p:nvPr>
        </p:nvSpPr>
        <p:spPr/>
        <p:txBody>
          <a:bodyPr/>
          <a:lstStyle/>
          <a:p>
            <a:r>
              <a:rPr lang="ja-JP" altLang="en-US"/>
              <a:t>医学生物学分野における高被引用論文の</a:t>
            </a:r>
            <a:br>
              <a:rPr lang="ja-JP" altLang="en-US"/>
            </a:br>
            <a:r>
              <a:rPr lang="ja-JP" altLang="en-US"/>
              <a:t>オブソレッセンス</a:t>
            </a:r>
            <a:endParaRPr kumimoji="1" lang="ja-JP" altLang="en-US"/>
          </a:p>
        </p:txBody>
      </p:sp>
      <p:sp>
        <p:nvSpPr>
          <p:cNvPr id="3" name="字幕 2">
            <a:extLst>
              <a:ext uri="{FF2B5EF4-FFF2-40B4-BE49-F238E27FC236}">
                <a16:creationId xmlns:a16="http://schemas.microsoft.com/office/drawing/2014/main" id="{50C4EA64-35A0-44F0-BF60-7C6BFE252D35}"/>
              </a:ext>
            </a:extLst>
          </p:cNvPr>
          <p:cNvSpPr>
            <a:spLocks noGrp="1"/>
          </p:cNvSpPr>
          <p:nvPr>
            <p:ph type="subTitle" idx="1"/>
          </p:nvPr>
        </p:nvSpPr>
        <p:spPr>
          <a:xfrm>
            <a:off x="1524000" y="3602037"/>
            <a:ext cx="9144000" cy="2387599"/>
          </a:xfrm>
        </p:spPr>
        <p:txBody>
          <a:bodyPr/>
          <a:lstStyle/>
          <a:p>
            <a:r>
              <a:rPr kumimoji="1" lang="ja-JP" altLang="en-US"/>
              <a:t>天野晃</a:t>
            </a:r>
            <a:endParaRPr kumimoji="1" lang="en-US" altLang="ja-JP"/>
          </a:p>
          <a:p>
            <a:r>
              <a:rPr lang="ja-JP" altLang="en-US"/>
              <a:t>鹿児島大学</a:t>
            </a:r>
            <a:endParaRPr lang="en-US" altLang="ja-JP"/>
          </a:p>
          <a:p>
            <a:endParaRPr kumimoji="1" lang="en-US" altLang="ja-JP"/>
          </a:p>
          <a:p>
            <a:r>
              <a:rPr lang="ja-JP" altLang="en-US"/>
              <a:t>第</a:t>
            </a:r>
            <a:r>
              <a:rPr lang="en-US" altLang="ja-JP"/>
              <a:t>41</a:t>
            </a:r>
            <a:r>
              <a:rPr lang="ja-JP" altLang="en-US"/>
              <a:t>回医学情報サービス研究大会</a:t>
            </a:r>
            <a:r>
              <a:rPr lang="en-US" altLang="ja-JP"/>
              <a:t> 2026.8.1</a:t>
            </a:r>
          </a:p>
        </p:txBody>
      </p:sp>
    </p:spTree>
    <p:extLst>
      <p:ext uri="{BB962C8B-B14F-4D97-AF65-F5344CB8AC3E}">
        <p14:creationId xmlns:p14="http://schemas.microsoft.com/office/powerpoint/2010/main" val="2273009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AFF6473-AB30-234D-2618-22B51DFDAA64}"/>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lang="ja-JP" altLang="en-US" sz="2800"/>
              <a:t>関連研究</a:t>
            </a:r>
            <a:endParaRPr kumimoji="1" lang="ja-JP" altLang="en-US" sz="2800"/>
          </a:p>
        </p:txBody>
      </p:sp>
      <p:sp>
        <p:nvSpPr>
          <p:cNvPr id="2" name="テキスト ボックス 1">
            <a:extLst>
              <a:ext uri="{FF2B5EF4-FFF2-40B4-BE49-F238E27FC236}">
                <a16:creationId xmlns:a16="http://schemas.microsoft.com/office/drawing/2014/main" id="{799734F7-CF16-C9BB-C741-83919AC04D23}"/>
              </a:ext>
            </a:extLst>
          </p:cNvPr>
          <p:cNvSpPr txBox="1"/>
          <p:nvPr/>
        </p:nvSpPr>
        <p:spPr>
          <a:xfrm>
            <a:off x="0" y="523220"/>
            <a:ext cx="12192000" cy="1200329"/>
          </a:xfrm>
          <a:prstGeom prst="rect">
            <a:avLst/>
          </a:prstGeom>
          <a:noFill/>
        </p:spPr>
        <p:txBody>
          <a:bodyPr wrap="square" rtlCol="0">
            <a:spAutoFit/>
          </a:bodyPr>
          <a:lstStyle/>
          <a:p>
            <a:r>
              <a:rPr kumimoji="1" lang="ja-JP" altLang="en-US"/>
              <a:t>現在のオブソレッセンス研究は</a:t>
            </a:r>
            <a:r>
              <a:rPr kumimoji="1" lang="en-US" altLang="ja-JP"/>
              <a:t>"</a:t>
            </a:r>
            <a:r>
              <a:rPr kumimoji="1" lang="ja-JP" altLang="en-US"/>
              <a:t>広い</a:t>
            </a:r>
            <a:r>
              <a:rPr kumimoji="1" lang="en-US" altLang="ja-JP"/>
              <a:t>"</a:t>
            </a:r>
          </a:p>
          <a:p>
            <a:pPr marL="285750" indent="-285750">
              <a:buFont typeface="Arial" panose="020B0604020202020204" pitchFamily="34" charset="0"/>
              <a:buChar char="•"/>
            </a:pPr>
            <a:r>
              <a:rPr kumimoji="1" lang="ja-JP" altLang="en-US"/>
              <a:t>減衰・更新</a:t>
            </a:r>
            <a:r>
              <a:rPr lang="ja-JP" altLang="en-US"/>
              <a:t>：引用</a:t>
            </a:r>
            <a:r>
              <a:rPr lang="en-US" altLang="ja-JP"/>
              <a:t>/</a:t>
            </a:r>
            <a:r>
              <a:rPr lang="ja-JP" altLang="en-US"/>
              <a:t>利用の減衰</a:t>
            </a:r>
            <a:r>
              <a:rPr lang="en-US" altLang="ja-JP"/>
              <a:t> </a:t>
            </a:r>
            <a:r>
              <a:rPr lang="ja-JP" altLang="en-US"/>
              <a:t>←</a:t>
            </a:r>
            <a:r>
              <a:rPr lang="en-US" altLang="ja-JP"/>
              <a:t> </a:t>
            </a:r>
            <a:r>
              <a:rPr lang="ja-JP" altLang="en-US"/>
              <a:t>今日のおはなし、知識の更新</a:t>
            </a:r>
            <a:r>
              <a:rPr lang="en-US" altLang="ja-JP"/>
              <a:t>/</a:t>
            </a:r>
            <a:r>
              <a:rPr lang="ja-JP" altLang="en-US"/>
              <a:t>陳腐化</a:t>
            </a:r>
            <a:r>
              <a:rPr lang="en-US" altLang="ja-JP"/>
              <a:t>/</a:t>
            </a:r>
            <a:r>
              <a:rPr lang="ja-JP" altLang="en-US"/>
              <a:t>常識化</a:t>
            </a:r>
            <a:endParaRPr lang="en-US" altLang="ja-JP"/>
          </a:p>
          <a:p>
            <a:pPr marL="285750" indent="-285750">
              <a:buFont typeface="Arial" panose="020B0604020202020204" pitchFamily="34" charset="0"/>
              <a:buChar char="•"/>
            </a:pPr>
            <a:r>
              <a:rPr kumimoji="1" lang="ja-JP" altLang="en-US"/>
              <a:t>分野による違いに注目</a:t>
            </a:r>
            <a:endParaRPr kumimoji="1" lang="en-US" altLang="ja-JP"/>
          </a:p>
          <a:p>
            <a:pPr marL="285750" indent="-285750">
              <a:buFont typeface="Arial" panose="020B0604020202020204" pitchFamily="34" charset="0"/>
              <a:buChar char="•"/>
            </a:pPr>
            <a:r>
              <a:rPr lang="ja-JP" altLang="en-US"/>
              <a:t>ネットワーク動態に注目</a:t>
            </a:r>
            <a:endParaRPr kumimoji="1" lang="ja-JP" altLang="en-US"/>
          </a:p>
        </p:txBody>
      </p:sp>
      <p:sp>
        <p:nvSpPr>
          <p:cNvPr id="3" name="テキスト ボックス 2">
            <a:extLst>
              <a:ext uri="{FF2B5EF4-FFF2-40B4-BE49-F238E27FC236}">
                <a16:creationId xmlns:a16="http://schemas.microsoft.com/office/drawing/2014/main" id="{4A1078AC-213C-46CB-1E78-E61973D50081}"/>
              </a:ext>
            </a:extLst>
          </p:cNvPr>
          <p:cNvSpPr txBox="1"/>
          <p:nvPr/>
        </p:nvSpPr>
        <p:spPr>
          <a:xfrm>
            <a:off x="0" y="1941900"/>
            <a:ext cx="12192000" cy="4247317"/>
          </a:xfrm>
          <a:prstGeom prst="rect">
            <a:avLst/>
          </a:prstGeom>
          <a:noFill/>
        </p:spPr>
        <p:txBody>
          <a:bodyPr wrap="square" rtlCol="0">
            <a:spAutoFit/>
          </a:bodyPr>
          <a:lstStyle/>
          <a:p>
            <a:r>
              <a:rPr kumimoji="1" lang="ja-JP" altLang="en-US"/>
              <a:t>引用減衰にかかる研究</a:t>
            </a:r>
            <a:endParaRPr kumimoji="1" lang="en-US" altLang="ja-JP"/>
          </a:p>
          <a:p>
            <a:pPr marL="285750" indent="-285750">
              <a:buFont typeface="Arial" panose="020B0604020202020204" pitchFamily="34" charset="0"/>
              <a:buChar char="•"/>
            </a:pPr>
            <a:r>
              <a:rPr lang="en-US" altLang="ja-JP"/>
              <a:t>E. Garfield</a:t>
            </a:r>
          </a:p>
          <a:p>
            <a:pPr marL="742950" lvl="1" indent="-285750">
              <a:buFont typeface="Arial" panose="020B0604020202020204" pitchFamily="34" charset="0"/>
              <a:buChar char="•"/>
            </a:pPr>
            <a:r>
              <a:rPr lang="ja-JP" altLang="en-US"/>
              <a:t>分野別の調査</a:t>
            </a:r>
            <a:endParaRPr lang="en-US" altLang="ja-JP"/>
          </a:p>
          <a:p>
            <a:pPr marL="742950" lvl="1" indent="-285750">
              <a:buFont typeface="Arial" panose="020B0604020202020204" pitchFamily="34" charset="0"/>
              <a:buChar char="•"/>
            </a:pPr>
            <a:r>
              <a:rPr lang="en-US" altLang="ja-JP"/>
              <a:t>immediacy index</a:t>
            </a:r>
          </a:p>
          <a:p>
            <a:pPr marL="742950" lvl="1" indent="-285750">
              <a:buFont typeface="Arial" panose="020B0604020202020204" pitchFamily="34" charset="0"/>
              <a:buChar char="•"/>
            </a:pPr>
            <a:r>
              <a:rPr lang="en-US" altLang="ja-JP"/>
              <a:t>citation age</a:t>
            </a:r>
          </a:p>
          <a:p>
            <a:pPr marL="285750" indent="-285750">
              <a:buFont typeface="Arial" panose="020B0604020202020204" pitchFamily="34" charset="0"/>
              <a:buChar char="•"/>
            </a:pPr>
            <a:r>
              <a:rPr lang="en" altLang="ja-JP"/>
              <a:t>R. E. Burton; R. W. Kebler. The “half-life” of some scientific and technical literatures. </a:t>
            </a:r>
            <a:r>
              <a:rPr lang="en" altLang="ja-JP" i="1"/>
              <a:t>American Documentation </a:t>
            </a:r>
            <a:r>
              <a:rPr lang="en" altLang="ja-JP"/>
              <a:t>(1960).</a:t>
            </a:r>
            <a:endParaRPr kumimoji="1" lang="en-US" altLang="ja-JP"/>
          </a:p>
          <a:p>
            <a:pPr marL="285750" indent="-285750">
              <a:buFont typeface="Arial" panose="020B0604020202020204" pitchFamily="34" charset="0"/>
              <a:buChar char="•"/>
            </a:pPr>
            <a:r>
              <a:rPr lang="en" altLang="ja-JP"/>
              <a:t>Price, D. J. de Solla. Networks of Scientific Papers. </a:t>
            </a:r>
            <a:r>
              <a:rPr lang="en" altLang="ja-JP" i="1"/>
              <a:t>Science</a:t>
            </a:r>
            <a:r>
              <a:rPr lang="en" altLang="ja-JP"/>
              <a:t> (1965).</a:t>
            </a:r>
          </a:p>
          <a:p>
            <a:pPr marL="742950" lvl="1" indent="-285750">
              <a:buFont typeface="Arial" panose="020B0604020202020204" pitchFamily="34" charset="0"/>
              <a:buChar char="•"/>
            </a:pPr>
            <a:r>
              <a:rPr lang="ja-JP" altLang="en-US"/>
              <a:t>引用の減衰に言及</a:t>
            </a:r>
            <a:endParaRPr lang="en" altLang="ja-JP"/>
          </a:p>
          <a:p>
            <a:pPr marL="285750" indent="-285750">
              <a:buFont typeface="Arial" panose="020B0604020202020204" pitchFamily="34" charset="0"/>
              <a:buChar char="•"/>
            </a:pPr>
            <a:r>
              <a:rPr lang="en-US" altLang="ja-JP"/>
              <a:t>Parolo, Pietro Della Briotta; Pan, Raj Kumar; Ghosh, Rumi; Huberman, Bernardo A.; Kaski, Kimmo; Fortunato, Santo. Attention decay in science. </a:t>
            </a:r>
            <a:r>
              <a:rPr lang="en-US" altLang="ja-JP" i="1"/>
              <a:t>Journal of Informatics </a:t>
            </a:r>
            <a:r>
              <a:rPr lang="en-US" altLang="ja-JP"/>
              <a:t>(2015).</a:t>
            </a:r>
            <a:endParaRPr lang="en" altLang="ja-JP"/>
          </a:p>
          <a:p>
            <a:pPr marL="742950" lvl="1" indent="-285750">
              <a:buFont typeface="Arial" panose="020B0604020202020204" pitchFamily="34" charset="0"/>
              <a:buChar char="•"/>
            </a:pPr>
            <a:r>
              <a:rPr lang="ja-JP" altLang="en-US"/>
              <a:t>引用減衰モデル</a:t>
            </a:r>
            <a:endParaRPr lang="en-US" altLang="ja-JP"/>
          </a:p>
          <a:p>
            <a:pPr marL="285750" indent="-285750">
              <a:buFont typeface="Arial" panose="020B0604020202020204" pitchFamily="34" charset="0"/>
              <a:buChar char="•"/>
            </a:pPr>
            <a:r>
              <a:rPr lang="en-US" altLang="ja-JP"/>
              <a:t>A. Garavaglia; R. van der Hofstad; G. Woeginger. The Dynamics of Power laws: Fitness and Aging in Preferential Attachment Trees. </a:t>
            </a:r>
            <a:r>
              <a:rPr lang="en-US" altLang="ja-JP" i="1"/>
              <a:t>Journal of Statistical Physics</a:t>
            </a:r>
            <a:r>
              <a:rPr lang="en-US" altLang="ja-JP"/>
              <a:t> (2017).</a:t>
            </a:r>
          </a:p>
          <a:p>
            <a:pPr marL="742950" lvl="1" indent="-285750">
              <a:buFont typeface="Arial" panose="020B0604020202020204" pitchFamily="34" charset="0"/>
              <a:buChar char="•"/>
            </a:pPr>
            <a:r>
              <a:rPr lang="ja-JP" altLang="en-US"/>
              <a:t>ネットワークモデル（優先的選択）の拡張、オブソレッセンスも再現</a:t>
            </a:r>
            <a:endParaRPr lang="en-US" altLang="ja-JP"/>
          </a:p>
        </p:txBody>
      </p:sp>
    </p:spTree>
    <p:extLst>
      <p:ext uri="{BB962C8B-B14F-4D97-AF65-F5344CB8AC3E}">
        <p14:creationId xmlns:p14="http://schemas.microsoft.com/office/powerpoint/2010/main" val="744902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C379C-D4EC-519C-45A5-6FEC7DB8CB9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9D050DA-A4A9-634C-2673-D4092F154AE0}"/>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目的</a:t>
            </a:r>
          </a:p>
        </p:txBody>
      </p:sp>
      <p:sp>
        <p:nvSpPr>
          <p:cNvPr id="2" name="テキスト ボックス 1">
            <a:extLst>
              <a:ext uri="{FF2B5EF4-FFF2-40B4-BE49-F238E27FC236}">
                <a16:creationId xmlns:a16="http://schemas.microsoft.com/office/drawing/2014/main" id="{EA4DEFB0-08BE-E655-B9D6-EEC32218988A}"/>
              </a:ext>
            </a:extLst>
          </p:cNvPr>
          <p:cNvSpPr txBox="1"/>
          <p:nvPr/>
        </p:nvSpPr>
        <p:spPr>
          <a:xfrm>
            <a:off x="0" y="523220"/>
            <a:ext cx="12192000" cy="1200329"/>
          </a:xfrm>
          <a:prstGeom prst="rect">
            <a:avLst/>
          </a:prstGeom>
          <a:noFill/>
        </p:spPr>
        <p:txBody>
          <a:bodyPr wrap="square" rtlCol="0">
            <a:spAutoFit/>
          </a:bodyPr>
          <a:lstStyle/>
          <a:p>
            <a:r>
              <a:rPr lang="ja-JP" altLang="en-US"/>
              <a:t>既存の指標のみからでは見えにくい被引用数の変動やこれによる順位の変動のようなダイナミクスを観察する</a:t>
            </a:r>
            <a:endParaRPr lang="en-US" altLang="ja-JP"/>
          </a:p>
          <a:p>
            <a:pPr marL="285750" indent="-285750">
              <a:buFont typeface="Arial" panose="020B0604020202020204" pitchFamily="34" charset="0"/>
              <a:buChar char="•"/>
            </a:pPr>
            <a:r>
              <a:rPr lang="ja-JP" altLang="en-US"/>
              <a:t>各論文の長期にわたる被引用数の変動、これによる順位の変動</a:t>
            </a:r>
            <a:endParaRPr lang="en-US" altLang="ja-JP"/>
          </a:p>
          <a:p>
            <a:pPr marL="285750" indent="-285750">
              <a:buFont typeface="Arial" panose="020B0604020202020204" pitchFamily="34" charset="0"/>
              <a:buChar char="•"/>
            </a:pPr>
            <a:r>
              <a:rPr lang="ja-JP" altLang="en-US"/>
              <a:t>被引用ピークに関する特性</a:t>
            </a:r>
            <a:endParaRPr lang="en-US" altLang="ja-JP"/>
          </a:p>
          <a:p>
            <a:pPr marL="285750" indent="-285750">
              <a:buFont typeface="Arial" panose="020B0604020202020204" pitchFamily="34" charset="0"/>
              <a:buChar char="•"/>
            </a:pPr>
            <a:r>
              <a:rPr lang="ja-JP" altLang="en-US"/>
              <a:t>リバイバル性（被引用の多峰性）とオブソレッセンスとの関係</a:t>
            </a:r>
          </a:p>
        </p:txBody>
      </p:sp>
    </p:spTree>
    <p:extLst>
      <p:ext uri="{BB962C8B-B14F-4D97-AF65-F5344CB8AC3E}">
        <p14:creationId xmlns:p14="http://schemas.microsoft.com/office/powerpoint/2010/main" val="882250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E241-B276-66ED-815B-8820D29925E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9C0F16A-AC4F-491E-5986-0FD1489630E8}"/>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lang="ja-JP" altLang="en-US" sz="2800"/>
              <a:t>データ・方法</a:t>
            </a:r>
            <a:endParaRPr kumimoji="1" lang="ja-JP" altLang="en-US" sz="2800"/>
          </a:p>
        </p:txBody>
      </p:sp>
      <p:sp>
        <p:nvSpPr>
          <p:cNvPr id="2" name="テキスト ボックス 1">
            <a:extLst>
              <a:ext uri="{FF2B5EF4-FFF2-40B4-BE49-F238E27FC236}">
                <a16:creationId xmlns:a16="http://schemas.microsoft.com/office/drawing/2014/main" id="{A4A57B06-1DCA-F5A7-3F67-FD56FD054A5B}"/>
              </a:ext>
            </a:extLst>
          </p:cNvPr>
          <p:cNvSpPr txBox="1"/>
          <p:nvPr/>
        </p:nvSpPr>
        <p:spPr>
          <a:xfrm>
            <a:off x="2249766" y="1113044"/>
            <a:ext cx="3042821" cy="338554"/>
          </a:xfrm>
          <a:prstGeom prst="rect">
            <a:avLst/>
          </a:prstGeom>
          <a:noFill/>
          <a:ln w="12700">
            <a:solidFill>
              <a:schemeClr val="tx1"/>
            </a:solidFill>
          </a:ln>
        </p:spPr>
        <p:txBody>
          <a:bodyPr wrap="none" rtlCol="0">
            <a:spAutoFit/>
          </a:bodyPr>
          <a:lstStyle/>
          <a:p>
            <a:r>
              <a:rPr kumimoji="1" lang="en-US" altLang="ja-JP" sz="1600"/>
              <a:t>PubMed annual baseline 2023</a:t>
            </a:r>
            <a:endParaRPr kumimoji="1" lang="ja-JP" altLang="en-US" sz="1600"/>
          </a:p>
        </p:txBody>
      </p:sp>
      <p:sp>
        <p:nvSpPr>
          <p:cNvPr id="3" name="テキスト ボックス 2">
            <a:extLst>
              <a:ext uri="{FF2B5EF4-FFF2-40B4-BE49-F238E27FC236}">
                <a16:creationId xmlns:a16="http://schemas.microsoft.com/office/drawing/2014/main" id="{542A1367-7607-ABA2-80D4-08BD96DC5A07}"/>
              </a:ext>
            </a:extLst>
          </p:cNvPr>
          <p:cNvSpPr txBox="1"/>
          <p:nvPr/>
        </p:nvSpPr>
        <p:spPr>
          <a:xfrm>
            <a:off x="2391634" y="1913490"/>
            <a:ext cx="2759089" cy="646331"/>
          </a:xfrm>
          <a:prstGeom prst="rect">
            <a:avLst/>
          </a:prstGeom>
          <a:noFill/>
          <a:ln w="12700">
            <a:solidFill>
              <a:schemeClr val="tx1"/>
            </a:solidFill>
          </a:ln>
        </p:spPr>
        <p:txBody>
          <a:bodyPr wrap="none" rtlCol="0">
            <a:spAutoFit/>
          </a:bodyPr>
          <a:lstStyle/>
          <a:p>
            <a:r>
              <a:rPr kumimoji="1" lang="en-US" altLang="ja-JP"/>
              <a:t>1946~2020</a:t>
            </a:r>
            <a:r>
              <a:rPr kumimoji="1" lang="ja-JP" altLang="en-US"/>
              <a:t>年出版の論文</a:t>
            </a:r>
            <a:endParaRPr kumimoji="1" lang="en-US" altLang="ja-JP"/>
          </a:p>
          <a:p>
            <a:r>
              <a:rPr kumimoji="1" lang="ja-JP" altLang="en-US"/>
              <a:t>の参照情報</a:t>
            </a:r>
          </a:p>
        </p:txBody>
      </p:sp>
      <p:sp>
        <p:nvSpPr>
          <p:cNvPr id="6" name="テキスト ボックス 5">
            <a:extLst>
              <a:ext uri="{FF2B5EF4-FFF2-40B4-BE49-F238E27FC236}">
                <a16:creationId xmlns:a16="http://schemas.microsoft.com/office/drawing/2014/main" id="{B6074EED-C3E7-9C2E-8619-D75FC2168790}"/>
              </a:ext>
            </a:extLst>
          </p:cNvPr>
          <p:cNvSpPr txBox="1"/>
          <p:nvPr/>
        </p:nvSpPr>
        <p:spPr>
          <a:xfrm>
            <a:off x="2499034" y="3021713"/>
            <a:ext cx="2544286" cy="369332"/>
          </a:xfrm>
          <a:prstGeom prst="rect">
            <a:avLst/>
          </a:prstGeom>
          <a:noFill/>
          <a:ln w="12700">
            <a:solidFill>
              <a:schemeClr val="tx1"/>
            </a:solidFill>
          </a:ln>
        </p:spPr>
        <p:txBody>
          <a:bodyPr wrap="none" rtlCol="0">
            <a:spAutoFit/>
          </a:bodyPr>
          <a:lstStyle/>
          <a:p>
            <a:r>
              <a:rPr kumimoji="1" lang="ja-JP" altLang="en-US"/>
              <a:t>被引用数上位</a:t>
            </a:r>
            <a:r>
              <a:rPr kumimoji="1" lang="en-US" altLang="ja-JP"/>
              <a:t>1000</a:t>
            </a:r>
            <a:r>
              <a:rPr kumimoji="1" lang="ja-JP" altLang="en-US"/>
              <a:t>論文</a:t>
            </a:r>
          </a:p>
        </p:txBody>
      </p:sp>
      <p:sp>
        <p:nvSpPr>
          <p:cNvPr id="7" name="テキスト ボックス 6">
            <a:extLst>
              <a:ext uri="{FF2B5EF4-FFF2-40B4-BE49-F238E27FC236}">
                <a16:creationId xmlns:a16="http://schemas.microsoft.com/office/drawing/2014/main" id="{4AFA9304-E56A-CB4F-CEAC-8B2C123F9994}"/>
              </a:ext>
            </a:extLst>
          </p:cNvPr>
          <p:cNvSpPr txBox="1"/>
          <p:nvPr/>
        </p:nvSpPr>
        <p:spPr>
          <a:xfrm>
            <a:off x="1377192" y="3852937"/>
            <a:ext cx="2028884" cy="646331"/>
          </a:xfrm>
          <a:prstGeom prst="rect">
            <a:avLst/>
          </a:prstGeom>
          <a:noFill/>
          <a:ln w="12700">
            <a:solidFill>
              <a:schemeClr val="tx1"/>
            </a:solidFill>
          </a:ln>
        </p:spPr>
        <p:txBody>
          <a:bodyPr wrap="square" rtlCol="0">
            <a:spAutoFit/>
          </a:bodyPr>
          <a:lstStyle/>
          <a:p>
            <a:r>
              <a:rPr lang="ja-JP" altLang="en-US"/>
              <a:t>オブソレッセンス到達論文</a:t>
            </a:r>
            <a:endParaRPr kumimoji="1" lang="ja-JP" altLang="en-US"/>
          </a:p>
        </p:txBody>
      </p:sp>
      <p:sp>
        <p:nvSpPr>
          <p:cNvPr id="8" name="テキスト ボックス 7">
            <a:extLst>
              <a:ext uri="{FF2B5EF4-FFF2-40B4-BE49-F238E27FC236}">
                <a16:creationId xmlns:a16="http://schemas.microsoft.com/office/drawing/2014/main" id="{D937D93B-B896-81BC-5349-1E96B8390F78}"/>
              </a:ext>
            </a:extLst>
          </p:cNvPr>
          <p:cNvSpPr txBox="1"/>
          <p:nvPr/>
        </p:nvSpPr>
        <p:spPr>
          <a:xfrm>
            <a:off x="4145516" y="3852936"/>
            <a:ext cx="2028885" cy="646331"/>
          </a:xfrm>
          <a:prstGeom prst="rect">
            <a:avLst/>
          </a:prstGeom>
          <a:noFill/>
          <a:ln w="12700">
            <a:solidFill>
              <a:schemeClr val="tx1"/>
            </a:solidFill>
          </a:ln>
        </p:spPr>
        <p:txBody>
          <a:bodyPr wrap="square" rtlCol="0">
            <a:spAutoFit/>
          </a:bodyPr>
          <a:lstStyle/>
          <a:p>
            <a:r>
              <a:rPr lang="ja-JP" altLang="en-US"/>
              <a:t>オブソレッセンス不達論文</a:t>
            </a:r>
            <a:endParaRPr kumimoji="1" lang="ja-JP" altLang="en-US"/>
          </a:p>
        </p:txBody>
      </p:sp>
      <p:sp>
        <p:nvSpPr>
          <p:cNvPr id="9" name="テキスト ボックス 8">
            <a:extLst>
              <a:ext uri="{FF2B5EF4-FFF2-40B4-BE49-F238E27FC236}">
                <a16:creationId xmlns:a16="http://schemas.microsoft.com/office/drawing/2014/main" id="{7390E1D4-3127-9BFC-DF06-75DF10BC6BA7}"/>
              </a:ext>
            </a:extLst>
          </p:cNvPr>
          <p:cNvSpPr txBox="1"/>
          <p:nvPr/>
        </p:nvSpPr>
        <p:spPr>
          <a:xfrm>
            <a:off x="3464821" y="4961159"/>
            <a:ext cx="646331" cy="369332"/>
          </a:xfrm>
          <a:prstGeom prst="rect">
            <a:avLst/>
          </a:prstGeom>
          <a:noFill/>
          <a:ln w="12700">
            <a:solidFill>
              <a:schemeClr val="tx1"/>
            </a:solidFill>
          </a:ln>
        </p:spPr>
        <p:txBody>
          <a:bodyPr wrap="none" rtlCol="0">
            <a:spAutoFit/>
          </a:bodyPr>
          <a:lstStyle/>
          <a:p>
            <a:r>
              <a:rPr kumimoji="1" lang="ja-JP" altLang="en-US"/>
              <a:t>比較</a:t>
            </a:r>
          </a:p>
        </p:txBody>
      </p:sp>
      <p:cxnSp>
        <p:nvCxnSpPr>
          <p:cNvPr id="11" name="直線コネクタ 10">
            <a:extLst>
              <a:ext uri="{FF2B5EF4-FFF2-40B4-BE49-F238E27FC236}">
                <a16:creationId xmlns:a16="http://schemas.microsoft.com/office/drawing/2014/main" id="{DA191161-83CE-3361-94A6-02C05E22F77F}"/>
              </a:ext>
            </a:extLst>
          </p:cNvPr>
          <p:cNvCxnSpPr>
            <a:stCxn id="2" idx="2"/>
            <a:endCxn id="3" idx="0"/>
          </p:cNvCxnSpPr>
          <p:nvPr/>
        </p:nvCxnSpPr>
        <p:spPr>
          <a:xfrm>
            <a:off x="3771177" y="1451598"/>
            <a:ext cx="2" cy="46189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B8922208-EE03-45CA-571A-DC8FF4A39092}"/>
              </a:ext>
            </a:extLst>
          </p:cNvPr>
          <p:cNvCxnSpPr>
            <a:cxnSpLocks/>
            <a:stCxn id="3" idx="2"/>
            <a:endCxn id="6" idx="0"/>
          </p:cNvCxnSpPr>
          <p:nvPr/>
        </p:nvCxnSpPr>
        <p:spPr>
          <a:xfrm flipH="1">
            <a:off x="3771177" y="2559821"/>
            <a:ext cx="2" cy="46189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カギ線コネクタ 18">
            <a:extLst>
              <a:ext uri="{FF2B5EF4-FFF2-40B4-BE49-F238E27FC236}">
                <a16:creationId xmlns:a16="http://schemas.microsoft.com/office/drawing/2014/main" id="{3CC7D56A-C150-1FC9-335E-1813CE2C3EBD}"/>
              </a:ext>
            </a:extLst>
          </p:cNvPr>
          <p:cNvCxnSpPr>
            <a:cxnSpLocks/>
            <a:stCxn id="6" idx="2"/>
            <a:endCxn id="8" idx="0"/>
          </p:cNvCxnSpPr>
          <p:nvPr/>
        </p:nvCxnSpPr>
        <p:spPr>
          <a:xfrm rot="16200000" flipH="1">
            <a:off x="4234623" y="2927599"/>
            <a:ext cx="461891" cy="1388782"/>
          </a:xfrm>
          <a:prstGeom prst="bentConnector3">
            <a:avLst>
              <a:gd name="adj1" fmla="val 50000"/>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カギ線コネクタ 19">
            <a:extLst>
              <a:ext uri="{FF2B5EF4-FFF2-40B4-BE49-F238E27FC236}">
                <a16:creationId xmlns:a16="http://schemas.microsoft.com/office/drawing/2014/main" id="{10A8474D-ABE7-F010-E148-BDDB31679E1E}"/>
              </a:ext>
            </a:extLst>
          </p:cNvPr>
          <p:cNvCxnSpPr>
            <a:cxnSpLocks/>
            <a:stCxn id="6" idx="2"/>
            <a:endCxn id="7" idx="0"/>
          </p:cNvCxnSpPr>
          <p:nvPr/>
        </p:nvCxnSpPr>
        <p:spPr>
          <a:xfrm rot="5400000">
            <a:off x="2850460" y="2932220"/>
            <a:ext cx="461892" cy="1379543"/>
          </a:xfrm>
          <a:prstGeom prst="bentConnector3">
            <a:avLst>
              <a:gd name="adj1" fmla="val 50000"/>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カギ線コネクタ 22">
            <a:extLst>
              <a:ext uri="{FF2B5EF4-FFF2-40B4-BE49-F238E27FC236}">
                <a16:creationId xmlns:a16="http://schemas.microsoft.com/office/drawing/2014/main" id="{234B08D9-335F-6D45-6466-F3582951F421}"/>
              </a:ext>
            </a:extLst>
          </p:cNvPr>
          <p:cNvCxnSpPr>
            <a:cxnSpLocks/>
            <a:stCxn id="8" idx="2"/>
            <a:endCxn id="9" idx="0"/>
          </p:cNvCxnSpPr>
          <p:nvPr/>
        </p:nvCxnSpPr>
        <p:spPr>
          <a:xfrm rot="5400000">
            <a:off x="4243027" y="4044227"/>
            <a:ext cx="461892" cy="1371972"/>
          </a:xfrm>
          <a:prstGeom prst="bentConnector3">
            <a:avLst>
              <a:gd name="adj1" fmla="val 50000"/>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カギ線コネクタ 25">
            <a:extLst>
              <a:ext uri="{FF2B5EF4-FFF2-40B4-BE49-F238E27FC236}">
                <a16:creationId xmlns:a16="http://schemas.microsoft.com/office/drawing/2014/main" id="{A99CF78C-34B6-B1FA-A765-A70DFDA14269}"/>
              </a:ext>
            </a:extLst>
          </p:cNvPr>
          <p:cNvCxnSpPr>
            <a:cxnSpLocks/>
            <a:stCxn id="7" idx="2"/>
            <a:endCxn id="9" idx="0"/>
          </p:cNvCxnSpPr>
          <p:nvPr/>
        </p:nvCxnSpPr>
        <p:spPr>
          <a:xfrm rot="16200000" flipH="1">
            <a:off x="2858865" y="4032036"/>
            <a:ext cx="461891" cy="1396353"/>
          </a:xfrm>
          <a:prstGeom prst="bentConnector3">
            <a:avLst>
              <a:gd name="adj1" fmla="val 50000"/>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テキスト ボックス 29">
            <a:extLst>
              <a:ext uri="{FF2B5EF4-FFF2-40B4-BE49-F238E27FC236}">
                <a16:creationId xmlns:a16="http://schemas.microsoft.com/office/drawing/2014/main" id="{D7951253-DDAD-6DE1-1552-43854CA311C7}"/>
              </a:ext>
            </a:extLst>
          </p:cNvPr>
          <p:cNvSpPr txBox="1"/>
          <p:nvPr/>
        </p:nvSpPr>
        <p:spPr>
          <a:xfrm>
            <a:off x="8577625" y="2790994"/>
            <a:ext cx="2231701" cy="830997"/>
          </a:xfrm>
          <a:prstGeom prst="rect">
            <a:avLst/>
          </a:prstGeom>
          <a:noFill/>
          <a:ln w="12700">
            <a:solidFill>
              <a:schemeClr val="accent4"/>
            </a:solidFill>
          </a:ln>
        </p:spPr>
        <p:txBody>
          <a:bodyPr wrap="none" rtlCol="0">
            <a:spAutoFit/>
          </a:bodyPr>
          <a:lstStyle/>
          <a:p>
            <a:pPr marL="285750" indent="-285750">
              <a:buFont typeface="Arial" panose="020B0604020202020204" pitchFamily="34" charset="0"/>
              <a:buChar char="•"/>
            </a:pPr>
            <a:r>
              <a:rPr lang="en-US" altLang="ja-JP" sz="1600"/>
              <a:t>Zipf</a:t>
            </a:r>
            <a:r>
              <a:rPr lang="ja-JP" altLang="en-US" sz="1600"/>
              <a:t>式</a:t>
            </a:r>
            <a:r>
              <a:rPr lang="en-US" altLang="ja-JP" sz="1600"/>
              <a:t>(</a:t>
            </a:r>
            <a:r>
              <a:rPr lang="ja-JP" altLang="en-US" sz="1600"/>
              <a:t>係数の確認</a:t>
            </a:r>
            <a:r>
              <a:rPr lang="en-US" altLang="ja-JP" sz="1600"/>
              <a:t>)</a:t>
            </a:r>
          </a:p>
          <a:p>
            <a:pPr marL="285750" indent="-285750">
              <a:buFont typeface="Arial" panose="020B0604020202020204" pitchFamily="34" charset="0"/>
              <a:buChar char="•"/>
            </a:pPr>
            <a:r>
              <a:rPr kumimoji="1" lang="ja-JP" altLang="en-US" sz="1600"/>
              <a:t>被引用数プロット</a:t>
            </a:r>
            <a:endParaRPr kumimoji="1" lang="en-US" altLang="ja-JP" sz="1600"/>
          </a:p>
          <a:p>
            <a:pPr marL="285750" indent="-285750">
              <a:buFont typeface="Arial" panose="020B0604020202020204" pitchFamily="34" charset="0"/>
              <a:buChar char="•"/>
            </a:pPr>
            <a:r>
              <a:rPr lang="ja-JP" altLang="en-US" sz="1600"/>
              <a:t>順位相関</a:t>
            </a:r>
            <a:endParaRPr kumimoji="1" lang="ja-JP" altLang="en-US" sz="1600"/>
          </a:p>
        </p:txBody>
      </p:sp>
      <p:sp>
        <p:nvSpPr>
          <p:cNvPr id="31" name="テキスト ボックス 30">
            <a:extLst>
              <a:ext uri="{FF2B5EF4-FFF2-40B4-BE49-F238E27FC236}">
                <a16:creationId xmlns:a16="http://schemas.microsoft.com/office/drawing/2014/main" id="{A6D96001-1442-6467-60B2-0AB1045DC7DC}"/>
              </a:ext>
            </a:extLst>
          </p:cNvPr>
          <p:cNvSpPr txBox="1"/>
          <p:nvPr/>
        </p:nvSpPr>
        <p:spPr>
          <a:xfrm>
            <a:off x="8636135" y="4427995"/>
            <a:ext cx="2114681" cy="830997"/>
          </a:xfrm>
          <a:prstGeom prst="rect">
            <a:avLst/>
          </a:prstGeom>
          <a:noFill/>
          <a:ln w="12700">
            <a:solidFill>
              <a:schemeClr val="accent4"/>
            </a:solidFill>
          </a:ln>
        </p:spPr>
        <p:txBody>
          <a:bodyPr wrap="none" rtlCol="0">
            <a:spAutoFit/>
          </a:bodyPr>
          <a:lstStyle/>
          <a:p>
            <a:pPr marL="285750" indent="-285750">
              <a:buFont typeface="Arial" panose="020B0604020202020204" pitchFamily="34" charset="0"/>
              <a:buChar char="•"/>
            </a:pPr>
            <a:r>
              <a:rPr lang="ja-JP" altLang="en-US" sz="1600"/>
              <a:t>ピークまでの期間</a:t>
            </a:r>
            <a:endParaRPr lang="en-US" altLang="ja-JP" sz="1600"/>
          </a:p>
          <a:p>
            <a:pPr marL="285750" indent="-285750">
              <a:buFont typeface="Arial" panose="020B0604020202020204" pitchFamily="34" charset="0"/>
              <a:buChar char="•"/>
            </a:pPr>
            <a:r>
              <a:rPr lang="ja-JP" altLang="en-US" sz="1600"/>
              <a:t>減衰までの期間</a:t>
            </a:r>
            <a:endParaRPr lang="en-US" altLang="ja-JP" sz="1600"/>
          </a:p>
          <a:p>
            <a:pPr marL="285750" indent="-285750">
              <a:buFont typeface="Arial" panose="020B0604020202020204" pitchFamily="34" charset="0"/>
              <a:buChar char="•"/>
            </a:pPr>
            <a:r>
              <a:rPr kumimoji="1" lang="ja-JP" altLang="en-US" sz="1600"/>
              <a:t>多峰性</a:t>
            </a:r>
          </a:p>
        </p:txBody>
      </p:sp>
      <p:cxnSp>
        <p:nvCxnSpPr>
          <p:cNvPr id="58" name="カギ線コネクタ 57">
            <a:extLst>
              <a:ext uri="{FF2B5EF4-FFF2-40B4-BE49-F238E27FC236}">
                <a16:creationId xmlns:a16="http://schemas.microsoft.com/office/drawing/2014/main" id="{DFD2BBC4-9549-7E9E-8FFE-F1E5C7DDBA0B}"/>
              </a:ext>
            </a:extLst>
          </p:cNvPr>
          <p:cNvCxnSpPr>
            <a:cxnSpLocks/>
            <a:stCxn id="9" idx="3"/>
            <a:endCxn id="31" idx="1"/>
          </p:cNvCxnSpPr>
          <p:nvPr/>
        </p:nvCxnSpPr>
        <p:spPr>
          <a:xfrm flipV="1">
            <a:off x="4111152" y="4843494"/>
            <a:ext cx="4524983" cy="302331"/>
          </a:xfrm>
          <a:prstGeom prst="bentConnector3">
            <a:avLst>
              <a:gd name="adj1" fmla="val 50000"/>
            </a:avLst>
          </a:prstGeom>
          <a:ln w="127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21" name="右中かっこ 20">
            <a:extLst>
              <a:ext uri="{FF2B5EF4-FFF2-40B4-BE49-F238E27FC236}">
                <a16:creationId xmlns:a16="http://schemas.microsoft.com/office/drawing/2014/main" id="{900F80B6-A844-20FD-36AD-C7F8AFF9E844}"/>
              </a:ext>
            </a:extLst>
          </p:cNvPr>
          <p:cNvSpPr/>
          <p:nvPr/>
        </p:nvSpPr>
        <p:spPr>
          <a:xfrm>
            <a:off x="5178341" y="2275375"/>
            <a:ext cx="233621" cy="890858"/>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4E5F106E-C680-2850-A6B2-79A31F7EA69B}"/>
              </a:ext>
            </a:extLst>
          </p:cNvPr>
          <p:cNvSpPr txBox="1"/>
          <p:nvPr/>
        </p:nvSpPr>
        <p:spPr>
          <a:xfrm>
            <a:off x="7791352" y="1289528"/>
            <a:ext cx="3869970" cy="338554"/>
          </a:xfrm>
          <a:prstGeom prst="rect">
            <a:avLst/>
          </a:prstGeom>
          <a:noFill/>
          <a:ln w="12700">
            <a:solidFill>
              <a:schemeClr val="accent4"/>
            </a:solidFill>
          </a:ln>
        </p:spPr>
        <p:txBody>
          <a:bodyPr wrap="none" rtlCol="0">
            <a:spAutoFit/>
          </a:bodyPr>
          <a:lstStyle/>
          <a:p>
            <a:r>
              <a:rPr lang="ja-JP" altLang="en-US" sz="1600"/>
              <a:t>被引用数上位とそれ以外の比較は断念</a:t>
            </a:r>
            <a:r>
              <a:rPr lang="en-US" altLang="ja-JP" sz="1600" baseline="30000"/>
              <a:t>***</a:t>
            </a:r>
            <a:endParaRPr lang="en-US" altLang="ja-JP" sz="1600"/>
          </a:p>
        </p:txBody>
      </p:sp>
      <p:cxnSp>
        <p:nvCxnSpPr>
          <p:cNvPr id="29" name="カギ線コネクタ 28">
            <a:extLst>
              <a:ext uri="{FF2B5EF4-FFF2-40B4-BE49-F238E27FC236}">
                <a16:creationId xmlns:a16="http://schemas.microsoft.com/office/drawing/2014/main" id="{A9F38F96-FD49-E52C-71AB-5C6A1D9A72BF}"/>
              </a:ext>
            </a:extLst>
          </p:cNvPr>
          <p:cNvCxnSpPr>
            <a:cxnSpLocks/>
            <a:stCxn id="21" idx="1"/>
            <a:endCxn id="22" idx="1"/>
          </p:cNvCxnSpPr>
          <p:nvPr/>
        </p:nvCxnSpPr>
        <p:spPr>
          <a:xfrm rot="10800000" flipH="1">
            <a:off x="5411962" y="1458806"/>
            <a:ext cx="2379390" cy="1261999"/>
          </a:xfrm>
          <a:prstGeom prst="bentConnector3">
            <a:avLst>
              <a:gd name="adj1" fmla="val 41119"/>
            </a:avLst>
          </a:prstGeom>
          <a:ln w="127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8B0A0575-9FD5-0950-70D6-7E923345F140}"/>
              </a:ext>
            </a:extLst>
          </p:cNvPr>
          <p:cNvSpPr txBox="1"/>
          <p:nvPr/>
        </p:nvSpPr>
        <p:spPr>
          <a:xfrm>
            <a:off x="9458585" y="5842337"/>
            <a:ext cx="2733415" cy="1015663"/>
          </a:xfrm>
          <a:prstGeom prst="rect">
            <a:avLst/>
          </a:prstGeom>
          <a:noFill/>
        </p:spPr>
        <p:txBody>
          <a:bodyPr wrap="square" rtlCol="0">
            <a:spAutoFit/>
          </a:bodyPr>
          <a:lstStyle/>
          <a:p>
            <a:r>
              <a:rPr kumimoji="1" lang="en-US" altLang="ja-JP" sz="1200"/>
              <a:t>*https://sites.wip.nlm.nih.gov/bsd/medline_pubmed_production_stats.html</a:t>
            </a:r>
          </a:p>
          <a:p>
            <a:r>
              <a:rPr lang="en-US" altLang="ja-JP" sz="1200"/>
              <a:t>**PMID</a:t>
            </a:r>
            <a:r>
              <a:rPr lang="ja-JP" altLang="en-US" sz="1200"/>
              <a:t>のペア</a:t>
            </a:r>
            <a:endParaRPr kumimoji="1" lang="en-US" altLang="ja-JP" sz="1200"/>
          </a:p>
          <a:p>
            <a:r>
              <a:rPr kumimoji="1" lang="en-US" altLang="ja-JP" sz="1200"/>
              <a:t>***</a:t>
            </a:r>
            <a:r>
              <a:rPr lang="ja-JP" altLang="en-US" sz="1200"/>
              <a:t>後</a:t>
            </a:r>
            <a:r>
              <a:rPr kumimoji="1" lang="ja-JP" altLang="en-US" sz="1200"/>
              <a:t>のスライドで言及</a:t>
            </a:r>
          </a:p>
        </p:txBody>
      </p:sp>
      <p:sp>
        <p:nvSpPr>
          <p:cNvPr id="41" name="テキスト ボックス 40">
            <a:extLst>
              <a:ext uri="{FF2B5EF4-FFF2-40B4-BE49-F238E27FC236}">
                <a16:creationId xmlns:a16="http://schemas.microsoft.com/office/drawing/2014/main" id="{98610BD3-D80B-6493-A5D3-9E51408ABD3B}"/>
              </a:ext>
            </a:extLst>
          </p:cNvPr>
          <p:cNvSpPr txBox="1"/>
          <p:nvPr/>
        </p:nvSpPr>
        <p:spPr>
          <a:xfrm>
            <a:off x="247790" y="1121670"/>
            <a:ext cx="2001975" cy="276999"/>
          </a:xfrm>
          <a:prstGeom prst="rect">
            <a:avLst/>
          </a:prstGeom>
          <a:noFill/>
        </p:spPr>
        <p:txBody>
          <a:bodyPr wrap="square" rtlCol="0">
            <a:spAutoFit/>
          </a:bodyPr>
          <a:lstStyle/>
          <a:p>
            <a:r>
              <a:rPr kumimoji="1" lang="ja-JP" altLang="en-US" sz="1200" b="1"/>
              <a:t>登録数</a:t>
            </a:r>
            <a:r>
              <a:rPr kumimoji="1" lang="en-US" altLang="ja-JP" sz="1200" b="1"/>
              <a:t>: 36,555,430</a:t>
            </a:r>
            <a:r>
              <a:rPr kumimoji="1" lang="en-US" altLang="ja-JP" sz="1200"/>
              <a:t>*</a:t>
            </a:r>
            <a:endParaRPr kumimoji="1" lang="ja-JP" altLang="en-US" sz="1200"/>
          </a:p>
        </p:txBody>
      </p:sp>
      <p:sp>
        <p:nvSpPr>
          <p:cNvPr id="43" name="テキスト ボックス 42">
            <a:extLst>
              <a:ext uri="{FF2B5EF4-FFF2-40B4-BE49-F238E27FC236}">
                <a16:creationId xmlns:a16="http://schemas.microsoft.com/office/drawing/2014/main" id="{A1FB563F-9B1C-0374-B6BC-D305A3B7A670}"/>
              </a:ext>
            </a:extLst>
          </p:cNvPr>
          <p:cNvSpPr txBox="1"/>
          <p:nvPr/>
        </p:nvSpPr>
        <p:spPr>
          <a:xfrm>
            <a:off x="247791" y="1922358"/>
            <a:ext cx="2143713" cy="830997"/>
          </a:xfrm>
          <a:prstGeom prst="rect">
            <a:avLst/>
          </a:prstGeom>
          <a:noFill/>
        </p:spPr>
        <p:txBody>
          <a:bodyPr wrap="square" rtlCol="0">
            <a:spAutoFit/>
          </a:bodyPr>
          <a:lstStyle/>
          <a:p>
            <a:r>
              <a:rPr kumimoji="1" lang="ja-JP" altLang="en-US" sz="1200" b="1"/>
              <a:t>登録数</a:t>
            </a:r>
            <a:r>
              <a:rPr kumimoji="1" lang="en-US" altLang="ja-JP" sz="1200" b="1"/>
              <a:t>: 31,440,632</a:t>
            </a:r>
          </a:p>
          <a:p>
            <a:r>
              <a:rPr lang="ja-JP" altLang="en-US" sz="1200" b="1"/>
              <a:t>参照を持つ論文</a:t>
            </a:r>
            <a:r>
              <a:rPr lang="en-US" altLang="ja-JP" sz="1200" b="1"/>
              <a:t>: 6,872,207</a:t>
            </a:r>
          </a:p>
          <a:p>
            <a:r>
              <a:rPr kumimoji="1" lang="ja-JP" altLang="en-US" sz="1200" b="1"/>
              <a:t>参照される論文</a:t>
            </a:r>
            <a:r>
              <a:rPr lang="en-US" altLang="ja-JP" sz="1200" b="1"/>
              <a:t>: 18,880,844</a:t>
            </a:r>
          </a:p>
          <a:p>
            <a:r>
              <a:rPr lang="ja-JP" altLang="en-US" sz="1200" b="1"/>
              <a:t>参照</a:t>
            </a:r>
            <a:r>
              <a:rPr kumimoji="1" lang="ja-JP" altLang="en-US" sz="1200" b="1"/>
              <a:t>数</a:t>
            </a:r>
            <a:r>
              <a:rPr lang="en-US" altLang="ja-JP" sz="1200" b="1"/>
              <a:t>: 223,840,771**</a:t>
            </a:r>
          </a:p>
        </p:txBody>
      </p:sp>
      <p:sp>
        <p:nvSpPr>
          <p:cNvPr id="27" name="テキスト ボックス 26">
            <a:extLst>
              <a:ext uri="{FF2B5EF4-FFF2-40B4-BE49-F238E27FC236}">
                <a16:creationId xmlns:a16="http://schemas.microsoft.com/office/drawing/2014/main" id="{2A96F951-57F5-A19B-662E-E7BF6797EA0B}"/>
              </a:ext>
            </a:extLst>
          </p:cNvPr>
          <p:cNvSpPr txBox="1"/>
          <p:nvPr/>
        </p:nvSpPr>
        <p:spPr>
          <a:xfrm>
            <a:off x="247791" y="3017159"/>
            <a:ext cx="2251240" cy="276999"/>
          </a:xfrm>
          <a:prstGeom prst="rect">
            <a:avLst/>
          </a:prstGeom>
          <a:noFill/>
        </p:spPr>
        <p:txBody>
          <a:bodyPr wrap="square" rtlCol="0">
            <a:spAutoFit/>
          </a:bodyPr>
          <a:lstStyle/>
          <a:p>
            <a:r>
              <a:rPr kumimoji="1" lang="en-US" altLang="ja-JP" sz="1200" b="1"/>
              <a:t>2020</a:t>
            </a:r>
            <a:r>
              <a:rPr kumimoji="1" lang="ja-JP" altLang="en-US" sz="1200" b="1"/>
              <a:t>年時点被引用数累計</a:t>
            </a:r>
            <a:endParaRPr kumimoji="1" lang="ja-JP" altLang="en-US" sz="1200"/>
          </a:p>
        </p:txBody>
      </p:sp>
      <p:cxnSp>
        <p:nvCxnSpPr>
          <p:cNvPr id="63" name="直線矢印コネクタ 62">
            <a:extLst>
              <a:ext uri="{FF2B5EF4-FFF2-40B4-BE49-F238E27FC236}">
                <a16:creationId xmlns:a16="http://schemas.microsoft.com/office/drawing/2014/main" id="{CED5E479-99E9-B99C-F420-6B60EF864DC4}"/>
              </a:ext>
            </a:extLst>
          </p:cNvPr>
          <p:cNvCxnSpPr>
            <a:stCxn id="6" idx="3"/>
            <a:endCxn id="30" idx="1"/>
          </p:cNvCxnSpPr>
          <p:nvPr/>
        </p:nvCxnSpPr>
        <p:spPr>
          <a:xfrm>
            <a:off x="5043320" y="3206379"/>
            <a:ext cx="3534305" cy="114"/>
          </a:xfrm>
          <a:prstGeom prst="straightConnector1">
            <a:avLst/>
          </a:prstGeom>
          <a:ln w="127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0939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4EF77-9C52-F4BB-3CBD-A9AF101366C8}"/>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3FCE7B75-43E8-66F9-E039-C1ABB2EC03C7}"/>
              </a:ext>
            </a:extLst>
          </p:cNvPr>
          <p:cNvPicPr>
            <a:picLocks noChangeAspect="1"/>
          </p:cNvPicPr>
          <p:nvPr/>
        </p:nvPicPr>
        <p:blipFill>
          <a:blip r:embed="rId3"/>
          <a:stretch>
            <a:fillRect/>
          </a:stretch>
        </p:blipFill>
        <p:spPr>
          <a:xfrm>
            <a:off x="5315790" y="1460203"/>
            <a:ext cx="6100725" cy="3952065"/>
          </a:xfrm>
          <a:prstGeom prst="rect">
            <a:avLst/>
          </a:prstGeom>
        </p:spPr>
      </p:pic>
      <p:sp>
        <p:nvSpPr>
          <p:cNvPr id="4" name="テキスト ボックス 3">
            <a:extLst>
              <a:ext uri="{FF2B5EF4-FFF2-40B4-BE49-F238E27FC236}">
                <a16:creationId xmlns:a16="http://schemas.microsoft.com/office/drawing/2014/main" id="{C787EB46-1362-46BC-10C8-968CFD35709A}"/>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2" name="テキスト ボックス 1">
            <a:extLst>
              <a:ext uri="{FF2B5EF4-FFF2-40B4-BE49-F238E27FC236}">
                <a16:creationId xmlns:a16="http://schemas.microsoft.com/office/drawing/2014/main" id="{094C5D97-0145-7AA3-B096-D4E86C9168B6}"/>
              </a:ext>
            </a:extLst>
          </p:cNvPr>
          <p:cNvSpPr txBox="1"/>
          <p:nvPr/>
        </p:nvSpPr>
        <p:spPr>
          <a:xfrm>
            <a:off x="0" y="523220"/>
            <a:ext cx="6070893" cy="1477328"/>
          </a:xfrm>
          <a:prstGeom prst="rect">
            <a:avLst/>
          </a:prstGeom>
          <a:noFill/>
        </p:spPr>
        <p:txBody>
          <a:bodyPr wrap="none" rtlCol="0">
            <a:spAutoFit/>
          </a:bodyPr>
          <a:lstStyle/>
          <a:p>
            <a:r>
              <a:rPr kumimoji="1" lang="ja-JP" altLang="en-US"/>
              <a:t>被引用数累計上位</a:t>
            </a:r>
            <a:r>
              <a:rPr kumimoji="1" lang="en-US" altLang="ja-JP"/>
              <a:t>1000</a:t>
            </a:r>
            <a:r>
              <a:rPr lang="ja-JP" altLang="en-US"/>
              <a:t>論文（参照される論文の</a:t>
            </a:r>
            <a:r>
              <a:rPr lang="en-US" altLang="ja-JP"/>
              <a:t>0.005%</a:t>
            </a:r>
            <a:r>
              <a:rPr lang="ja-JP" altLang="en-US"/>
              <a:t>）</a:t>
            </a:r>
            <a:endParaRPr lang="en-US" altLang="ja-JP"/>
          </a:p>
          <a:p>
            <a:pPr marL="285750" indent="-285750">
              <a:buFont typeface="Arial" panose="020B0604020202020204" pitchFamily="34" charset="0"/>
              <a:buChar char="•"/>
            </a:pPr>
            <a:r>
              <a:rPr lang="ja-JP" altLang="en-US"/>
              <a:t>総</a:t>
            </a:r>
            <a:r>
              <a:rPr kumimoji="1" lang="ja-JP" altLang="en-US"/>
              <a:t>被引用数</a:t>
            </a:r>
            <a:r>
              <a:rPr kumimoji="1" lang="en-US" altLang="ja-JP"/>
              <a:t>: 3,789,238</a:t>
            </a:r>
            <a:r>
              <a:rPr lang="ja-JP" altLang="en-US"/>
              <a:t>（全体の</a:t>
            </a:r>
            <a:r>
              <a:rPr lang="en-US" altLang="ja-JP"/>
              <a:t>1.7%</a:t>
            </a:r>
            <a:r>
              <a:rPr lang="ja-JP" altLang="en-US"/>
              <a:t>）</a:t>
            </a:r>
            <a:endParaRPr lang="en-US" altLang="ja-JP"/>
          </a:p>
          <a:p>
            <a:pPr marL="285750" indent="-285750">
              <a:buFont typeface="Arial" panose="020B0604020202020204" pitchFamily="34" charset="0"/>
              <a:buChar char="•"/>
            </a:pPr>
            <a:r>
              <a:rPr kumimoji="1" lang="ja-JP" altLang="en-US"/>
              <a:t>被引用数累積最大</a:t>
            </a:r>
            <a:r>
              <a:rPr kumimoji="1" lang="en-US" altLang="ja-JP"/>
              <a:t>: 54,249</a:t>
            </a:r>
            <a:r>
              <a:rPr kumimoji="1" lang="ja-JP" altLang="en-US"/>
              <a:t>（</a:t>
            </a:r>
            <a:r>
              <a:rPr kumimoji="1" lang="en-US" altLang="ja-JP"/>
              <a:t>1970</a:t>
            </a:r>
            <a:r>
              <a:rPr kumimoji="1" lang="ja-JP" altLang="en-US"/>
              <a:t>年出版）</a:t>
            </a:r>
            <a:endParaRPr kumimoji="1" lang="en-US" altLang="ja-JP"/>
          </a:p>
          <a:p>
            <a:pPr marL="285750" indent="-285750">
              <a:buFont typeface="Arial" panose="020B0604020202020204" pitchFamily="34" charset="0"/>
              <a:buChar char="•"/>
            </a:pPr>
            <a:r>
              <a:rPr lang="ja-JP" altLang="en-US"/>
              <a:t>被引用数累積最小</a:t>
            </a:r>
            <a:r>
              <a:rPr lang="en-US" altLang="ja-JP"/>
              <a:t>: 1,785</a:t>
            </a:r>
          </a:p>
          <a:p>
            <a:pPr marL="285750" indent="-285750">
              <a:buFont typeface="Arial" panose="020B0604020202020204" pitchFamily="34" charset="0"/>
              <a:buChar char="•"/>
            </a:pPr>
            <a:r>
              <a:rPr kumimoji="1" lang="en-US" altLang="ja-JP"/>
              <a:t>Zipf</a:t>
            </a:r>
            <a:r>
              <a:rPr kumimoji="1" lang="ja-JP" altLang="en-US"/>
              <a:t>式</a:t>
            </a:r>
            <a:r>
              <a:rPr kumimoji="1" lang="en-US" altLang="ja-JP"/>
              <a:t>(</a:t>
            </a:r>
            <a:r>
              <a:rPr kumimoji="1" lang="en-US" altLang="ja-JP" i="1"/>
              <a:t>C</a:t>
            </a:r>
            <a:r>
              <a:rPr kumimoji="1" lang="en-US" altLang="ja-JP"/>
              <a:t> </a:t>
            </a:r>
            <a:r>
              <a:rPr kumimoji="1" lang="en-US" altLang="ja-JP" i="1"/>
              <a:t>r</a:t>
            </a:r>
            <a:r>
              <a:rPr kumimoji="1" lang="en-US" altLang="ja-JP"/>
              <a:t>^-</a:t>
            </a:r>
            <a:r>
              <a:rPr kumimoji="1" lang="en-US" altLang="ja-JP" i="1"/>
              <a:t>a</a:t>
            </a:r>
            <a:r>
              <a:rPr kumimoji="1" lang="en-US" altLang="ja-JP"/>
              <a:t>)</a:t>
            </a:r>
            <a:r>
              <a:rPr kumimoji="1" lang="ja-JP" altLang="en-US"/>
              <a:t>にフィットさせた時の係数</a:t>
            </a:r>
            <a:r>
              <a:rPr kumimoji="1" lang="en-US" altLang="ja-JP" i="1"/>
              <a:t>a</a:t>
            </a:r>
            <a:r>
              <a:rPr kumimoji="1" lang="en-US" altLang="ja-JP"/>
              <a:t>=0.5</a:t>
            </a:r>
          </a:p>
        </p:txBody>
      </p:sp>
      <p:sp>
        <p:nvSpPr>
          <p:cNvPr id="9" name="テキスト ボックス 8">
            <a:extLst>
              <a:ext uri="{FF2B5EF4-FFF2-40B4-BE49-F238E27FC236}">
                <a16:creationId xmlns:a16="http://schemas.microsoft.com/office/drawing/2014/main" id="{0A05BE66-8274-5CAC-152C-C3B1D9D66005}"/>
              </a:ext>
            </a:extLst>
          </p:cNvPr>
          <p:cNvSpPr txBox="1"/>
          <p:nvPr/>
        </p:nvSpPr>
        <p:spPr>
          <a:xfrm>
            <a:off x="7215752" y="5420894"/>
            <a:ext cx="2643672" cy="276999"/>
          </a:xfrm>
          <a:prstGeom prst="rect">
            <a:avLst/>
          </a:prstGeom>
          <a:noFill/>
        </p:spPr>
        <p:txBody>
          <a:bodyPr wrap="none" rtlCol="0">
            <a:spAutoFit/>
          </a:bodyPr>
          <a:lstStyle/>
          <a:p>
            <a:r>
              <a:rPr kumimoji="1" lang="ja-JP" altLang="en-US" sz="1200"/>
              <a:t>被引用数のプロット</a:t>
            </a:r>
            <a:r>
              <a:rPr kumimoji="1" lang="en-US" altLang="ja-JP" sz="1200"/>
              <a:t>(</a:t>
            </a:r>
            <a:r>
              <a:rPr kumimoji="1" lang="ja-JP" altLang="en-US" sz="1200"/>
              <a:t>上位</a:t>
            </a:r>
            <a:r>
              <a:rPr kumimoji="1" lang="en-US" altLang="ja-JP" sz="1200"/>
              <a:t>1000</a:t>
            </a:r>
            <a:r>
              <a:rPr kumimoji="1" lang="ja-JP" altLang="en-US" sz="1200"/>
              <a:t>論文</a:t>
            </a:r>
            <a:r>
              <a:rPr kumimoji="1" lang="en-US" altLang="ja-JP" sz="1200"/>
              <a:t>)</a:t>
            </a:r>
            <a:endParaRPr kumimoji="1" lang="ja-JP" altLang="en-US" sz="1200"/>
          </a:p>
        </p:txBody>
      </p:sp>
      <p:pic>
        <p:nvPicPr>
          <p:cNvPr id="10" name="図 9">
            <a:extLst>
              <a:ext uri="{FF2B5EF4-FFF2-40B4-BE49-F238E27FC236}">
                <a16:creationId xmlns:a16="http://schemas.microsoft.com/office/drawing/2014/main" id="{3240D284-A99D-BE26-7E8C-6FD55417202E}"/>
              </a:ext>
            </a:extLst>
          </p:cNvPr>
          <p:cNvPicPr>
            <a:picLocks noChangeAspect="1"/>
          </p:cNvPicPr>
          <p:nvPr/>
        </p:nvPicPr>
        <p:blipFill>
          <a:blip r:embed="rId4"/>
          <a:stretch>
            <a:fillRect/>
          </a:stretch>
        </p:blipFill>
        <p:spPr>
          <a:xfrm>
            <a:off x="378562" y="3034591"/>
            <a:ext cx="3832784" cy="2384843"/>
          </a:xfrm>
          <a:prstGeom prst="rect">
            <a:avLst/>
          </a:prstGeom>
        </p:spPr>
      </p:pic>
      <p:sp>
        <p:nvSpPr>
          <p:cNvPr id="11" name="テキスト ボックス 10">
            <a:extLst>
              <a:ext uri="{FF2B5EF4-FFF2-40B4-BE49-F238E27FC236}">
                <a16:creationId xmlns:a16="http://schemas.microsoft.com/office/drawing/2014/main" id="{70A9B138-2158-6E58-9E32-4EB9CA9FF720}"/>
              </a:ext>
            </a:extLst>
          </p:cNvPr>
          <p:cNvSpPr txBox="1"/>
          <p:nvPr/>
        </p:nvSpPr>
        <p:spPr>
          <a:xfrm>
            <a:off x="876937" y="5433043"/>
            <a:ext cx="3190297" cy="276999"/>
          </a:xfrm>
          <a:prstGeom prst="rect">
            <a:avLst/>
          </a:prstGeom>
          <a:noFill/>
        </p:spPr>
        <p:txBody>
          <a:bodyPr wrap="none" rtlCol="0">
            <a:spAutoFit/>
          </a:bodyPr>
          <a:lstStyle/>
          <a:p>
            <a:r>
              <a:rPr lang="ja-JP" altLang="en-US" sz="1200"/>
              <a:t>出版年と出版件数</a:t>
            </a:r>
            <a:r>
              <a:rPr lang="en-US" altLang="ja-JP" sz="1200"/>
              <a:t>(</a:t>
            </a:r>
            <a:r>
              <a:rPr lang="ja-JP" altLang="en-US" sz="1200"/>
              <a:t>上位</a:t>
            </a:r>
            <a:r>
              <a:rPr lang="en-US" altLang="ja-JP" sz="1200"/>
              <a:t>1000</a:t>
            </a:r>
            <a:r>
              <a:rPr lang="ja-JP" altLang="en-US" sz="1200"/>
              <a:t>論文、</a:t>
            </a:r>
            <a:r>
              <a:rPr lang="en-US" altLang="ja-JP" sz="1200"/>
              <a:t>5</a:t>
            </a:r>
            <a:r>
              <a:rPr lang="ja-JP" altLang="en-US" sz="1200"/>
              <a:t>年単位</a:t>
            </a:r>
            <a:r>
              <a:rPr lang="en-US" altLang="ja-JP" sz="1200"/>
              <a:t>)</a:t>
            </a:r>
            <a:endParaRPr kumimoji="1" lang="ja-JP" altLang="en-US" sz="1200"/>
          </a:p>
        </p:txBody>
      </p:sp>
      <p:sp>
        <p:nvSpPr>
          <p:cNvPr id="13" name="右中かっこ 12">
            <a:extLst>
              <a:ext uri="{FF2B5EF4-FFF2-40B4-BE49-F238E27FC236}">
                <a16:creationId xmlns:a16="http://schemas.microsoft.com/office/drawing/2014/main" id="{D73F4C46-D196-7A18-2754-0D51BDF54359}"/>
              </a:ext>
            </a:extLst>
          </p:cNvPr>
          <p:cNvSpPr/>
          <p:nvPr/>
        </p:nvSpPr>
        <p:spPr>
          <a:xfrm rot="16200000">
            <a:off x="3675921" y="2992066"/>
            <a:ext cx="142356" cy="227407"/>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99FD53C-9884-4595-D95E-B6052047F861}"/>
              </a:ext>
            </a:extLst>
          </p:cNvPr>
          <p:cNvSpPr txBox="1"/>
          <p:nvPr/>
        </p:nvSpPr>
        <p:spPr>
          <a:xfrm>
            <a:off x="4127357" y="3436416"/>
            <a:ext cx="973343" cy="276999"/>
          </a:xfrm>
          <a:prstGeom prst="rect">
            <a:avLst/>
          </a:prstGeom>
          <a:noFill/>
        </p:spPr>
        <p:txBody>
          <a:bodyPr wrap="none" rtlCol="0">
            <a:spAutoFit/>
          </a:bodyPr>
          <a:lstStyle/>
          <a:p>
            <a:r>
              <a:rPr kumimoji="1" lang="en-US" altLang="ja-JP" sz="1200"/>
              <a:t>2006~2010</a:t>
            </a:r>
            <a:endParaRPr kumimoji="1" lang="ja-JP" altLang="en-US" sz="1200"/>
          </a:p>
        </p:txBody>
      </p:sp>
      <p:cxnSp>
        <p:nvCxnSpPr>
          <p:cNvPr id="16" name="カギ線コネクタ 15">
            <a:extLst>
              <a:ext uri="{FF2B5EF4-FFF2-40B4-BE49-F238E27FC236}">
                <a16:creationId xmlns:a16="http://schemas.microsoft.com/office/drawing/2014/main" id="{A7A0326C-5220-83E2-5E5C-5397C0C87E5F}"/>
              </a:ext>
            </a:extLst>
          </p:cNvPr>
          <p:cNvCxnSpPr>
            <a:cxnSpLocks/>
            <a:stCxn id="14" idx="0"/>
            <a:endCxn id="13" idx="1"/>
          </p:cNvCxnSpPr>
          <p:nvPr/>
        </p:nvCxnSpPr>
        <p:spPr>
          <a:xfrm rot="16200000" flipV="1">
            <a:off x="3979653" y="2802039"/>
            <a:ext cx="401824" cy="866929"/>
          </a:xfrm>
          <a:prstGeom prst="bentConnector3">
            <a:avLst>
              <a:gd name="adj1" fmla="val 145520"/>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7430E81E-29F5-5E93-1CFE-04CD6EA15DC5}"/>
              </a:ext>
            </a:extLst>
          </p:cNvPr>
          <p:cNvSpPr txBox="1"/>
          <p:nvPr/>
        </p:nvSpPr>
        <p:spPr>
          <a:xfrm>
            <a:off x="9971920" y="1520822"/>
            <a:ext cx="1907895" cy="276999"/>
          </a:xfrm>
          <a:prstGeom prst="rect">
            <a:avLst/>
          </a:prstGeom>
          <a:noFill/>
        </p:spPr>
        <p:txBody>
          <a:bodyPr wrap="none" rtlCol="0">
            <a:spAutoFit/>
          </a:bodyPr>
          <a:lstStyle/>
          <a:p>
            <a:r>
              <a:rPr lang="ja-JP" altLang="en-US" sz="1200"/>
              <a:t>年間最大被引用数</a:t>
            </a:r>
            <a:r>
              <a:rPr lang="en-US" altLang="ja-JP" sz="1200"/>
              <a:t>=8,735</a:t>
            </a:r>
            <a:endParaRPr kumimoji="1" lang="ja-JP" altLang="en-US" sz="1200"/>
          </a:p>
        </p:txBody>
      </p:sp>
      <p:cxnSp>
        <p:nvCxnSpPr>
          <p:cNvPr id="21" name="直線矢印コネクタ 20">
            <a:extLst>
              <a:ext uri="{FF2B5EF4-FFF2-40B4-BE49-F238E27FC236}">
                <a16:creationId xmlns:a16="http://schemas.microsoft.com/office/drawing/2014/main" id="{7E331D62-4B97-2340-30EB-AD259EF90412}"/>
              </a:ext>
            </a:extLst>
          </p:cNvPr>
          <p:cNvCxnSpPr>
            <a:cxnSpLocks/>
            <a:stCxn id="19" idx="1"/>
          </p:cNvCxnSpPr>
          <p:nvPr/>
        </p:nvCxnSpPr>
        <p:spPr>
          <a:xfrm flipH="1">
            <a:off x="8185975" y="1659322"/>
            <a:ext cx="1785945"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直線矢印コネクタ 2">
            <a:extLst>
              <a:ext uri="{FF2B5EF4-FFF2-40B4-BE49-F238E27FC236}">
                <a16:creationId xmlns:a16="http://schemas.microsoft.com/office/drawing/2014/main" id="{AFE9B88A-14AB-CA15-F911-BFCA2200AEA2}"/>
              </a:ext>
            </a:extLst>
          </p:cNvPr>
          <p:cNvCxnSpPr>
            <a:cxnSpLocks/>
          </p:cNvCxnSpPr>
          <p:nvPr/>
        </p:nvCxnSpPr>
        <p:spPr>
          <a:xfrm flipH="1">
            <a:off x="8528823" y="4830129"/>
            <a:ext cx="1210486"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506ED649-1A78-A52C-476A-0838616AAC29}"/>
              </a:ext>
            </a:extLst>
          </p:cNvPr>
          <p:cNvSpPr txBox="1"/>
          <p:nvPr/>
        </p:nvSpPr>
        <p:spPr>
          <a:xfrm>
            <a:off x="9771232" y="4691629"/>
            <a:ext cx="1992853" cy="276999"/>
          </a:xfrm>
          <a:prstGeom prst="rect">
            <a:avLst/>
          </a:prstGeom>
          <a:noFill/>
        </p:spPr>
        <p:txBody>
          <a:bodyPr wrap="none" rtlCol="0">
            <a:spAutoFit/>
          </a:bodyPr>
          <a:lstStyle/>
          <a:p>
            <a:r>
              <a:rPr lang="ja-JP" altLang="en-US" sz="1200"/>
              <a:t>被引用数累積最大</a:t>
            </a:r>
            <a:r>
              <a:rPr lang="en-US" altLang="ja-JP" sz="1200"/>
              <a:t>=54,249</a:t>
            </a:r>
            <a:endParaRPr kumimoji="1" lang="ja-JP" altLang="en-US" sz="1200"/>
          </a:p>
        </p:txBody>
      </p:sp>
      <p:sp>
        <p:nvSpPr>
          <p:cNvPr id="12" name="右中かっこ 11">
            <a:extLst>
              <a:ext uri="{FF2B5EF4-FFF2-40B4-BE49-F238E27FC236}">
                <a16:creationId xmlns:a16="http://schemas.microsoft.com/office/drawing/2014/main" id="{646D097E-442C-14E4-75AB-D5637784DEB0}"/>
              </a:ext>
            </a:extLst>
          </p:cNvPr>
          <p:cNvSpPr/>
          <p:nvPr/>
        </p:nvSpPr>
        <p:spPr>
          <a:xfrm rot="1742946">
            <a:off x="8104983" y="2978892"/>
            <a:ext cx="155391" cy="634065"/>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cxnSp>
        <p:nvCxnSpPr>
          <p:cNvPr id="15" name="直線矢印コネクタ 14">
            <a:extLst>
              <a:ext uri="{FF2B5EF4-FFF2-40B4-BE49-F238E27FC236}">
                <a16:creationId xmlns:a16="http://schemas.microsoft.com/office/drawing/2014/main" id="{9A004588-999D-F7BD-EA61-2B79998C5163}"/>
              </a:ext>
            </a:extLst>
          </p:cNvPr>
          <p:cNvCxnSpPr>
            <a:cxnSpLocks/>
            <a:stCxn id="22" idx="1"/>
          </p:cNvCxnSpPr>
          <p:nvPr/>
        </p:nvCxnSpPr>
        <p:spPr>
          <a:xfrm flipH="1" flipV="1">
            <a:off x="8278091" y="3339901"/>
            <a:ext cx="1772050" cy="303067"/>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3E7A3187-9F52-3C22-5394-2BB86B24E356}"/>
              </a:ext>
            </a:extLst>
          </p:cNvPr>
          <p:cNvSpPr txBox="1"/>
          <p:nvPr/>
        </p:nvSpPr>
        <p:spPr>
          <a:xfrm>
            <a:off x="10050141" y="3504468"/>
            <a:ext cx="1742785" cy="276999"/>
          </a:xfrm>
          <a:prstGeom prst="rect">
            <a:avLst/>
          </a:prstGeom>
          <a:noFill/>
        </p:spPr>
        <p:txBody>
          <a:bodyPr wrap="none" rtlCol="0">
            <a:spAutoFit/>
          </a:bodyPr>
          <a:lstStyle/>
          <a:p>
            <a:r>
              <a:rPr lang="ja-JP" altLang="en-US" sz="1200"/>
              <a:t>出版年：</a:t>
            </a:r>
            <a:r>
              <a:rPr lang="en-US" altLang="ja-JP" sz="1200"/>
              <a:t>2006~2010</a:t>
            </a:r>
            <a:r>
              <a:rPr lang="ja-JP" altLang="en-US" sz="1200"/>
              <a:t>年</a:t>
            </a:r>
            <a:endParaRPr kumimoji="1" lang="ja-JP" altLang="en-US" sz="1200"/>
          </a:p>
        </p:txBody>
      </p:sp>
    </p:spTree>
    <p:extLst>
      <p:ext uri="{BB962C8B-B14F-4D97-AF65-F5344CB8AC3E}">
        <p14:creationId xmlns:p14="http://schemas.microsoft.com/office/powerpoint/2010/main" val="1214384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A2D89-2FFC-25CD-6BBA-D2CF500AC9C7}"/>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7CA22A7-88BD-D177-F1C0-44859A817A3A}"/>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3" name="テキスト ボックス 2">
            <a:extLst>
              <a:ext uri="{FF2B5EF4-FFF2-40B4-BE49-F238E27FC236}">
                <a16:creationId xmlns:a16="http://schemas.microsoft.com/office/drawing/2014/main" id="{377AA913-FED0-188B-304B-7675649317F8}"/>
              </a:ext>
            </a:extLst>
          </p:cNvPr>
          <p:cNvSpPr txBox="1"/>
          <p:nvPr/>
        </p:nvSpPr>
        <p:spPr>
          <a:xfrm>
            <a:off x="0" y="523220"/>
            <a:ext cx="4525598" cy="1477328"/>
          </a:xfrm>
          <a:prstGeom prst="rect">
            <a:avLst/>
          </a:prstGeom>
          <a:noFill/>
        </p:spPr>
        <p:txBody>
          <a:bodyPr wrap="none" rtlCol="0">
            <a:spAutoFit/>
          </a:bodyPr>
          <a:lstStyle/>
          <a:p>
            <a:r>
              <a:rPr kumimoji="1" lang="ja-JP" altLang="en-US"/>
              <a:t>上位</a:t>
            </a:r>
            <a:r>
              <a:rPr kumimoji="1" lang="en-US" altLang="ja-JP"/>
              <a:t>1000</a:t>
            </a:r>
            <a:r>
              <a:rPr kumimoji="1" lang="ja-JP" altLang="en-US"/>
              <a:t>論文の順位相関</a:t>
            </a:r>
            <a:r>
              <a:rPr kumimoji="1" lang="en-US" altLang="ja-JP"/>
              <a:t>(Kendall)</a:t>
            </a:r>
          </a:p>
          <a:p>
            <a:pPr marL="285750" indent="-285750">
              <a:buFont typeface="Arial" panose="020B0604020202020204" pitchFamily="34" charset="0"/>
              <a:buChar char="•"/>
            </a:pPr>
            <a:r>
              <a:rPr kumimoji="1" lang="ja-JP" altLang="en-US"/>
              <a:t>出版が確認できる最古のものが</a:t>
            </a:r>
            <a:r>
              <a:rPr kumimoji="1" lang="en-US" altLang="ja-JP"/>
              <a:t>1949</a:t>
            </a:r>
            <a:r>
              <a:rPr kumimoji="1" lang="ja-JP" altLang="en-US"/>
              <a:t>年</a:t>
            </a:r>
            <a:endParaRPr kumimoji="1" lang="en-US" altLang="ja-JP"/>
          </a:p>
          <a:p>
            <a:pPr marL="285750" indent="-285750">
              <a:buFont typeface="Arial" panose="020B0604020202020204" pitchFamily="34" charset="0"/>
              <a:buChar char="•"/>
            </a:pPr>
            <a:r>
              <a:rPr kumimoji="1" lang="ja-JP" altLang="en-US"/>
              <a:t>値が算出可能なものが</a:t>
            </a:r>
            <a:r>
              <a:rPr kumimoji="1" lang="en-US" altLang="ja-JP"/>
              <a:t>1950</a:t>
            </a:r>
            <a:r>
              <a:rPr kumimoji="1" lang="ja-JP" altLang="en-US"/>
              <a:t>年より</a:t>
            </a:r>
            <a:endParaRPr kumimoji="1" lang="en-US" altLang="ja-JP"/>
          </a:p>
          <a:p>
            <a:pPr marL="285750" indent="-285750">
              <a:buFont typeface="Arial" panose="020B0604020202020204" pitchFamily="34" charset="0"/>
              <a:buChar char="•"/>
            </a:pPr>
            <a:r>
              <a:rPr lang="ja-JP" altLang="en-US"/>
              <a:t>出現した論文をすべて対象とする</a:t>
            </a:r>
            <a:endParaRPr lang="en-US" altLang="ja-JP"/>
          </a:p>
          <a:p>
            <a:pPr marL="742950" lvl="1" indent="-285750">
              <a:buFont typeface="Arial" panose="020B0604020202020204" pitchFamily="34" charset="0"/>
              <a:buChar char="•"/>
            </a:pPr>
            <a:r>
              <a:rPr kumimoji="1" lang="ja-JP" altLang="en-US"/>
              <a:t>出版前の年には</a:t>
            </a:r>
            <a:r>
              <a:rPr lang="ja-JP" altLang="en-US"/>
              <a:t>被引用数</a:t>
            </a:r>
            <a:r>
              <a:rPr lang="en-US" altLang="ja-JP"/>
              <a:t>0</a:t>
            </a:r>
            <a:r>
              <a:rPr lang="ja-JP" altLang="en-US"/>
              <a:t>を与える</a:t>
            </a:r>
            <a:endParaRPr kumimoji="1" lang="ja-JP" altLang="en-US"/>
          </a:p>
        </p:txBody>
      </p:sp>
      <p:pic>
        <p:nvPicPr>
          <p:cNvPr id="5" name="図 4">
            <a:extLst>
              <a:ext uri="{FF2B5EF4-FFF2-40B4-BE49-F238E27FC236}">
                <a16:creationId xmlns:a16="http://schemas.microsoft.com/office/drawing/2014/main" id="{8D6DCFF6-DAA8-06B8-DF32-84F7D3B4ABA8}"/>
              </a:ext>
            </a:extLst>
          </p:cNvPr>
          <p:cNvPicPr>
            <a:picLocks noChangeAspect="1"/>
          </p:cNvPicPr>
          <p:nvPr/>
        </p:nvPicPr>
        <p:blipFill>
          <a:blip r:embed="rId2"/>
          <a:stretch>
            <a:fillRect/>
          </a:stretch>
        </p:blipFill>
        <p:spPr>
          <a:xfrm>
            <a:off x="3182598" y="3419457"/>
            <a:ext cx="4713817" cy="2786922"/>
          </a:xfrm>
          <a:prstGeom prst="rect">
            <a:avLst/>
          </a:prstGeom>
        </p:spPr>
      </p:pic>
      <p:sp>
        <p:nvSpPr>
          <p:cNvPr id="6" name="テキスト ボックス 5">
            <a:extLst>
              <a:ext uri="{FF2B5EF4-FFF2-40B4-BE49-F238E27FC236}">
                <a16:creationId xmlns:a16="http://schemas.microsoft.com/office/drawing/2014/main" id="{AF9C0B51-12C1-A279-0BD8-3ACC8B44E3D7}"/>
              </a:ext>
            </a:extLst>
          </p:cNvPr>
          <p:cNvSpPr txBox="1"/>
          <p:nvPr/>
        </p:nvSpPr>
        <p:spPr>
          <a:xfrm>
            <a:off x="3559544" y="6206379"/>
            <a:ext cx="4137671" cy="276999"/>
          </a:xfrm>
          <a:prstGeom prst="rect">
            <a:avLst/>
          </a:prstGeom>
          <a:noFill/>
        </p:spPr>
        <p:txBody>
          <a:bodyPr wrap="none" rtlCol="0">
            <a:spAutoFit/>
          </a:bodyPr>
          <a:lstStyle/>
          <a:p>
            <a:r>
              <a:rPr lang="en-US" altLang="ja-JP" sz="1200"/>
              <a:t>Kendall</a:t>
            </a:r>
            <a:r>
              <a:rPr lang="ja-JP" altLang="en-US" sz="1200"/>
              <a:t>の順位相関</a:t>
            </a:r>
            <a:r>
              <a:rPr kumimoji="1" lang="ja-JP" altLang="en-US" sz="1200"/>
              <a:t>のプロット</a:t>
            </a:r>
            <a:r>
              <a:rPr kumimoji="1" lang="en-US" altLang="ja-JP" sz="1200"/>
              <a:t>(</a:t>
            </a:r>
            <a:r>
              <a:rPr kumimoji="1" lang="ja-JP" altLang="en-US" sz="1200"/>
              <a:t>上位</a:t>
            </a:r>
            <a:r>
              <a:rPr kumimoji="1" lang="en-US" altLang="ja-JP" sz="1200"/>
              <a:t>1000</a:t>
            </a:r>
            <a:r>
              <a:rPr kumimoji="1" lang="ja-JP" altLang="en-US" sz="1200"/>
              <a:t>件、</a:t>
            </a:r>
            <a:r>
              <a:rPr kumimoji="1" lang="en-US" altLang="ja-JP" sz="1200"/>
              <a:t>1950</a:t>
            </a:r>
            <a:r>
              <a:rPr kumimoji="1" lang="ja-JP" altLang="en-US" sz="1200"/>
              <a:t>年以降</a:t>
            </a:r>
            <a:r>
              <a:rPr kumimoji="1" lang="en-US" altLang="ja-JP" sz="1200"/>
              <a:t>)</a:t>
            </a:r>
            <a:endParaRPr kumimoji="1" lang="ja-JP" altLang="en-US" sz="1200"/>
          </a:p>
        </p:txBody>
      </p:sp>
      <p:sp>
        <p:nvSpPr>
          <p:cNvPr id="7" name="テキスト ボックス 6">
            <a:extLst>
              <a:ext uri="{FF2B5EF4-FFF2-40B4-BE49-F238E27FC236}">
                <a16:creationId xmlns:a16="http://schemas.microsoft.com/office/drawing/2014/main" id="{91E9011A-732A-420C-BEC6-1D67B9B5098A}"/>
              </a:ext>
            </a:extLst>
          </p:cNvPr>
          <p:cNvSpPr txBox="1"/>
          <p:nvPr/>
        </p:nvSpPr>
        <p:spPr>
          <a:xfrm>
            <a:off x="4145474" y="2602052"/>
            <a:ext cx="2492990" cy="246221"/>
          </a:xfrm>
          <a:prstGeom prst="rect">
            <a:avLst/>
          </a:prstGeom>
          <a:noFill/>
        </p:spPr>
        <p:txBody>
          <a:bodyPr wrap="none" rtlCol="0">
            <a:spAutoFit/>
          </a:bodyPr>
          <a:lstStyle/>
          <a:p>
            <a:r>
              <a:rPr kumimoji="1" lang="ja-JP" altLang="en-US" sz="1000"/>
              <a:t>初期の値のばらつきは同順位が多いため</a:t>
            </a:r>
          </a:p>
        </p:txBody>
      </p:sp>
      <p:sp>
        <p:nvSpPr>
          <p:cNvPr id="8" name="テキスト ボックス 7">
            <a:extLst>
              <a:ext uri="{FF2B5EF4-FFF2-40B4-BE49-F238E27FC236}">
                <a16:creationId xmlns:a16="http://schemas.microsoft.com/office/drawing/2014/main" id="{4E989FD7-2192-AE4B-0A61-C3D34957176C}"/>
              </a:ext>
            </a:extLst>
          </p:cNvPr>
          <p:cNvSpPr txBox="1"/>
          <p:nvPr/>
        </p:nvSpPr>
        <p:spPr>
          <a:xfrm>
            <a:off x="7697215" y="2602052"/>
            <a:ext cx="2951285" cy="400110"/>
          </a:xfrm>
          <a:prstGeom prst="rect">
            <a:avLst/>
          </a:prstGeom>
          <a:noFill/>
        </p:spPr>
        <p:txBody>
          <a:bodyPr wrap="square" rtlCol="0">
            <a:spAutoFit/>
          </a:bodyPr>
          <a:lstStyle/>
          <a:p>
            <a:r>
              <a:rPr lang="ja-JP" altLang="en-US" sz="1000"/>
              <a:t>新しい世代で</a:t>
            </a:r>
            <a:r>
              <a:rPr kumimoji="1" lang="ja-JP" altLang="en-US" sz="1000"/>
              <a:t>値が減少傾向にあるのは、近年の論文</a:t>
            </a:r>
            <a:r>
              <a:rPr lang="ja-JP" altLang="en-US" sz="1000"/>
              <a:t>ほど引用の即時性が高いことによる？</a:t>
            </a:r>
            <a:endParaRPr kumimoji="1" lang="ja-JP" altLang="en-US" sz="1000"/>
          </a:p>
        </p:txBody>
      </p:sp>
      <p:sp>
        <p:nvSpPr>
          <p:cNvPr id="9" name="右中かっこ 8">
            <a:extLst>
              <a:ext uri="{FF2B5EF4-FFF2-40B4-BE49-F238E27FC236}">
                <a16:creationId xmlns:a16="http://schemas.microsoft.com/office/drawing/2014/main" id="{EE0E1A34-493D-481A-3BBC-922089A85CC8}"/>
              </a:ext>
            </a:extLst>
          </p:cNvPr>
          <p:cNvSpPr/>
          <p:nvPr/>
        </p:nvSpPr>
        <p:spPr>
          <a:xfrm rot="16200000">
            <a:off x="3762142" y="3089699"/>
            <a:ext cx="246220" cy="734051"/>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0" name="右中かっこ 9">
            <a:extLst>
              <a:ext uri="{FF2B5EF4-FFF2-40B4-BE49-F238E27FC236}">
                <a16:creationId xmlns:a16="http://schemas.microsoft.com/office/drawing/2014/main" id="{DE04E52E-F6D2-8E74-D5AF-18F56EC32F4F}"/>
              </a:ext>
            </a:extLst>
          </p:cNvPr>
          <p:cNvSpPr/>
          <p:nvPr/>
        </p:nvSpPr>
        <p:spPr>
          <a:xfrm rot="16200000">
            <a:off x="7207080" y="3089699"/>
            <a:ext cx="246220" cy="734051"/>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cxnSp>
        <p:nvCxnSpPr>
          <p:cNvPr id="12" name="カギ線コネクタ 11">
            <a:extLst>
              <a:ext uri="{FF2B5EF4-FFF2-40B4-BE49-F238E27FC236}">
                <a16:creationId xmlns:a16="http://schemas.microsoft.com/office/drawing/2014/main" id="{922E026F-7F1D-DF2D-7AE2-D055CBBA8667}"/>
              </a:ext>
            </a:extLst>
          </p:cNvPr>
          <p:cNvCxnSpPr>
            <a:cxnSpLocks/>
            <a:stCxn id="7" idx="1"/>
            <a:endCxn id="9" idx="1"/>
          </p:cNvCxnSpPr>
          <p:nvPr/>
        </p:nvCxnSpPr>
        <p:spPr>
          <a:xfrm rot="10800000" flipV="1">
            <a:off x="3885254" y="2725163"/>
            <a:ext cx="260221" cy="608452"/>
          </a:xfrm>
          <a:prstGeom prst="bentConnector4">
            <a:avLst>
              <a:gd name="adj1" fmla="val 102590"/>
              <a:gd name="adj2" fmla="val 9903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カギ線コネクタ 12">
            <a:extLst>
              <a:ext uri="{FF2B5EF4-FFF2-40B4-BE49-F238E27FC236}">
                <a16:creationId xmlns:a16="http://schemas.microsoft.com/office/drawing/2014/main" id="{A2D69B1A-53C6-FFA0-C31F-0F4053523102}"/>
              </a:ext>
            </a:extLst>
          </p:cNvPr>
          <p:cNvCxnSpPr>
            <a:cxnSpLocks/>
            <a:stCxn id="8" idx="1"/>
          </p:cNvCxnSpPr>
          <p:nvPr/>
        </p:nvCxnSpPr>
        <p:spPr>
          <a:xfrm rot="10800000" flipV="1">
            <a:off x="7331463" y="2802107"/>
            <a:ext cx="365752" cy="497984"/>
          </a:xfrm>
          <a:prstGeom prst="bent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テキスト ボックス 1">
            <a:extLst>
              <a:ext uri="{FF2B5EF4-FFF2-40B4-BE49-F238E27FC236}">
                <a16:creationId xmlns:a16="http://schemas.microsoft.com/office/drawing/2014/main" id="{B3A39BED-71FC-85C7-D90B-7DF3DFCC4BC0}"/>
              </a:ext>
            </a:extLst>
          </p:cNvPr>
          <p:cNvSpPr txBox="1"/>
          <p:nvPr/>
        </p:nvSpPr>
        <p:spPr>
          <a:xfrm>
            <a:off x="6395049" y="526285"/>
            <a:ext cx="5796951" cy="1754326"/>
          </a:xfrm>
          <a:prstGeom prst="rect">
            <a:avLst/>
          </a:prstGeom>
          <a:noFill/>
        </p:spPr>
        <p:txBody>
          <a:bodyPr wrap="square" rtlCol="0">
            <a:spAutoFit/>
          </a:bodyPr>
          <a:lstStyle/>
          <a:p>
            <a:r>
              <a:rPr kumimoji="1" lang="ja-JP" altLang="en-US"/>
              <a:t>被引用数累計上位</a:t>
            </a:r>
            <a:r>
              <a:rPr kumimoji="1" lang="en-US" altLang="ja-JP"/>
              <a:t>1000</a:t>
            </a:r>
            <a:r>
              <a:rPr lang="ja-JP" altLang="en-US"/>
              <a:t>論文以外</a:t>
            </a:r>
            <a:endParaRPr lang="en-US" altLang="ja-JP"/>
          </a:p>
          <a:p>
            <a:pPr marL="285750" indent="-285750">
              <a:buFont typeface="Arial" panose="020B0604020202020204" pitchFamily="34" charset="0"/>
              <a:buChar char="•"/>
            </a:pPr>
            <a:r>
              <a:rPr kumimoji="1" lang="en-US" altLang="ja-JP"/>
              <a:t>4</a:t>
            </a:r>
            <a:r>
              <a:rPr kumimoji="1" lang="ja-JP" altLang="en-US"/>
              <a:t>分位区間それぞれの上位</a:t>
            </a:r>
            <a:r>
              <a:rPr kumimoji="1" lang="en-US" altLang="ja-JP"/>
              <a:t>1000</a:t>
            </a:r>
            <a:r>
              <a:rPr kumimoji="1" lang="ja-JP" altLang="en-US"/>
              <a:t>件を抽出</a:t>
            </a:r>
            <a:r>
              <a:rPr lang="ja-JP" altLang="en-US"/>
              <a:t>したが</a:t>
            </a:r>
            <a:endParaRPr kumimoji="1" lang="en-US" altLang="ja-JP"/>
          </a:p>
          <a:p>
            <a:pPr marL="285750" indent="-285750">
              <a:buFont typeface="Arial" panose="020B0604020202020204" pitchFamily="34" charset="0"/>
              <a:buChar char="•"/>
            </a:pPr>
            <a:r>
              <a:rPr lang="ja-JP" altLang="en-US"/>
              <a:t>第</a:t>
            </a:r>
            <a:r>
              <a:rPr lang="en-US" altLang="ja-JP"/>
              <a:t>2~4</a:t>
            </a:r>
            <a:r>
              <a:rPr lang="ja-JP" altLang="en-US"/>
              <a:t>分位区間上位</a:t>
            </a:r>
            <a:r>
              <a:rPr lang="en-US" altLang="ja-JP"/>
              <a:t>1000</a:t>
            </a:r>
            <a:r>
              <a:rPr lang="ja-JP" altLang="en-US"/>
              <a:t>件では</a:t>
            </a:r>
            <a:endParaRPr lang="en-US" altLang="ja-JP"/>
          </a:p>
          <a:p>
            <a:pPr marL="742950" lvl="1" indent="-285750">
              <a:buFont typeface="Arial" panose="020B0604020202020204" pitchFamily="34" charset="0"/>
              <a:buChar char="•"/>
            </a:pPr>
            <a:r>
              <a:rPr kumimoji="1" lang="ja-JP" altLang="en-US"/>
              <a:t>被引用数が少ない（</a:t>
            </a:r>
            <a:r>
              <a:rPr kumimoji="1" lang="en-US" altLang="ja-JP"/>
              <a:t>2~11</a:t>
            </a:r>
            <a:r>
              <a:rPr kumimoji="1" lang="ja-JP" altLang="en-US"/>
              <a:t>）</a:t>
            </a:r>
            <a:endParaRPr kumimoji="1" lang="en-US" altLang="ja-JP"/>
          </a:p>
          <a:p>
            <a:pPr marL="742950" lvl="1" indent="-285750">
              <a:buFont typeface="Arial" panose="020B0604020202020204" pitchFamily="34" charset="0"/>
              <a:buChar char="•"/>
            </a:pPr>
            <a:r>
              <a:rPr lang="ja-JP" altLang="en-US"/>
              <a:t>区間内論文の被引用数が全て同じ（</a:t>
            </a:r>
            <a:r>
              <a:rPr lang="en-US" altLang="ja-JP"/>
              <a:t>2</a:t>
            </a:r>
            <a:r>
              <a:rPr lang="ja-JP" altLang="en-US"/>
              <a:t>、</a:t>
            </a:r>
            <a:r>
              <a:rPr lang="en-US" altLang="ja-JP"/>
              <a:t>4</a:t>
            </a:r>
            <a:r>
              <a:rPr lang="ja-JP" altLang="en-US"/>
              <a:t>、</a:t>
            </a:r>
            <a:r>
              <a:rPr lang="en-US" altLang="ja-JP"/>
              <a:t>11</a:t>
            </a:r>
            <a:r>
              <a:rPr lang="ja-JP" altLang="en-US"/>
              <a:t>）</a:t>
            </a:r>
            <a:endParaRPr kumimoji="1" lang="en-US" altLang="ja-JP"/>
          </a:p>
          <a:p>
            <a:r>
              <a:rPr lang="ja-JP" altLang="en-US"/>
              <a:t>ということで分析・比較を断念した</a:t>
            </a:r>
            <a:endParaRPr kumimoji="1" lang="ja-JP" altLang="en-US"/>
          </a:p>
        </p:txBody>
      </p:sp>
    </p:spTree>
    <p:extLst>
      <p:ext uri="{BB962C8B-B14F-4D97-AF65-F5344CB8AC3E}">
        <p14:creationId xmlns:p14="http://schemas.microsoft.com/office/powerpoint/2010/main" val="1322916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6FE43-3155-25D0-9D0B-1E0B572380F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F50FBDC-84B5-CD61-78B2-2318A280C65B}"/>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2" name="テキスト ボックス 1">
            <a:extLst>
              <a:ext uri="{FF2B5EF4-FFF2-40B4-BE49-F238E27FC236}">
                <a16:creationId xmlns:a16="http://schemas.microsoft.com/office/drawing/2014/main" id="{F06DCC28-B4A7-9726-3CEB-0092057A6A9D}"/>
              </a:ext>
            </a:extLst>
          </p:cNvPr>
          <p:cNvSpPr txBox="1"/>
          <p:nvPr/>
        </p:nvSpPr>
        <p:spPr>
          <a:xfrm>
            <a:off x="0" y="523220"/>
            <a:ext cx="3786614" cy="1200329"/>
          </a:xfrm>
          <a:prstGeom prst="rect">
            <a:avLst/>
          </a:prstGeom>
          <a:noFill/>
        </p:spPr>
        <p:txBody>
          <a:bodyPr wrap="none" rtlCol="0">
            <a:spAutoFit/>
          </a:bodyPr>
          <a:lstStyle/>
          <a:p>
            <a:r>
              <a:rPr kumimoji="1" lang="ja-JP" altLang="en-US"/>
              <a:t>オブソレッセンス：到達条件</a:t>
            </a:r>
            <a:endParaRPr kumimoji="1" lang="en-US" altLang="ja-JP"/>
          </a:p>
          <a:p>
            <a:pPr marL="285750" indent="-285750">
              <a:buFont typeface="Arial" panose="020B0604020202020204" pitchFamily="34" charset="0"/>
              <a:buChar char="•"/>
            </a:pPr>
            <a:r>
              <a:rPr kumimoji="1" lang="ja-JP" altLang="en-US"/>
              <a:t>数値条件</a:t>
            </a:r>
            <a:endParaRPr kumimoji="1" lang="en-US" altLang="ja-JP"/>
          </a:p>
          <a:p>
            <a:pPr marL="742950" lvl="1" indent="-285750">
              <a:buFont typeface="Arial" panose="020B0604020202020204" pitchFamily="34" charset="0"/>
              <a:buChar char="•"/>
            </a:pPr>
            <a:r>
              <a:rPr kumimoji="1" lang="ja-JP" altLang="en-US"/>
              <a:t>出版後</a:t>
            </a:r>
            <a:r>
              <a:rPr kumimoji="1" lang="en-US" altLang="ja-JP"/>
              <a:t>10</a:t>
            </a:r>
            <a:r>
              <a:rPr kumimoji="1" lang="ja-JP" altLang="en-US"/>
              <a:t>年以上</a:t>
            </a:r>
            <a:endParaRPr kumimoji="1" lang="en-US" altLang="ja-JP"/>
          </a:p>
          <a:p>
            <a:pPr marL="742950" lvl="1" indent="-285750">
              <a:buFont typeface="Arial" panose="020B0604020202020204" pitchFamily="34" charset="0"/>
              <a:buChar char="•"/>
            </a:pPr>
            <a:r>
              <a:rPr kumimoji="1" lang="ja-JP" altLang="en-US"/>
              <a:t>年間被引用が累積の</a:t>
            </a:r>
            <a:r>
              <a:rPr kumimoji="1" lang="en-US" altLang="ja-JP"/>
              <a:t>5%</a:t>
            </a:r>
            <a:r>
              <a:rPr kumimoji="1" lang="ja-JP" altLang="en-US"/>
              <a:t>以下</a:t>
            </a:r>
          </a:p>
        </p:txBody>
      </p:sp>
      <p:pic>
        <p:nvPicPr>
          <p:cNvPr id="5" name="図 4">
            <a:extLst>
              <a:ext uri="{FF2B5EF4-FFF2-40B4-BE49-F238E27FC236}">
                <a16:creationId xmlns:a16="http://schemas.microsoft.com/office/drawing/2014/main" id="{F19C8134-F918-A8C9-DF52-F67A261C3659}"/>
              </a:ext>
            </a:extLst>
          </p:cNvPr>
          <p:cNvPicPr>
            <a:picLocks noChangeAspect="1"/>
          </p:cNvPicPr>
          <p:nvPr/>
        </p:nvPicPr>
        <p:blipFill>
          <a:blip r:embed="rId2"/>
          <a:stretch>
            <a:fillRect/>
          </a:stretch>
        </p:blipFill>
        <p:spPr>
          <a:xfrm>
            <a:off x="2184400" y="1831707"/>
            <a:ext cx="7823200" cy="4850384"/>
          </a:xfrm>
          <a:prstGeom prst="rect">
            <a:avLst/>
          </a:prstGeom>
        </p:spPr>
      </p:pic>
    </p:spTree>
    <p:extLst>
      <p:ext uri="{BB962C8B-B14F-4D97-AF65-F5344CB8AC3E}">
        <p14:creationId xmlns:p14="http://schemas.microsoft.com/office/powerpoint/2010/main" val="1851931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F52E-5DB2-486F-989E-C5BFD73D8E2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96E5C9D-B1C3-2ADB-98D9-3788D4FABC68}"/>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2" name="テキスト ボックス 1">
            <a:extLst>
              <a:ext uri="{FF2B5EF4-FFF2-40B4-BE49-F238E27FC236}">
                <a16:creationId xmlns:a16="http://schemas.microsoft.com/office/drawing/2014/main" id="{9DE32011-6935-3BB7-049C-77FD17995C56}"/>
              </a:ext>
            </a:extLst>
          </p:cNvPr>
          <p:cNvSpPr txBox="1"/>
          <p:nvPr/>
        </p:nvSpPr>
        <p:spPr>
          <a:xfrm>
            <a:off x="0" y="523220"/>
            <a:ext cx="4221027" cy="369332"/>
          </a:xfrm>
          <a:prstGeom prst="rect">
            <a:avLst/>
          </a:prstGeom>
          <a:noFill/>
        </p:spPr>
        <p:txBody>
          <a:bodyPr wrap="none" rtlCol="0">
            <a:spAutoFit/>
          </a:bodyPr>
          <a:lstStyle/>
          <a:p>
            <a:r>
              <a:rPr kumimoji="1" lang="ja-JP" altLang="en-US"/>
              <a:t>オブソレッセンス：到達論文</a:t>
            </a:r>
            <a:r>
              <a:rPr kumimoji="1" lang="en-US" altLang="ja-JP"/>
              <a:t>/</a:t>
            </a:r>
            <a:r>
              <a:rPr kumimoji="1" lang="ja-JP" altLang="en-US"/>
              <a:t>不達論文</a:t>
            </a:r>
            <a:endParaRPr kumimoji="1" lang="en-US" altLang="ja-JP"/>
          </a:p>
        </p:txBody>
      </p:sp>
      <p:pic>
        <p:nvPicPr>
          <p:cNvPr id="5" name="図 4">
            <a:extLst>
              <a:ext uri="{FF2B5EF4-FFF2-40B4-BE49-F238E27FC236}">
                <a16:creationId xmlns:a16="http://schemas.microsoft.com/office/drawing/2014/main" id="{179F1013-EA3C-A149-4636-E3FBA0997E01}"/>
              </a:ext>
            </a:extLst>
          </p:cNvPr>
          <p:cNvPicPr>
            <a:picLocks noChangeAspect="1"/>
          </p:cNvPicPr>
          <p:nvPr/>
        </p:nvPicPr>
        <p:blipFill>
          <a:blip r:embed="rId2"/>
          <a:stretch>
            <a:fillRect/>
          </a:stretch>
        </p:blipFill>
        <p:spPr>
          <a:xfrm>
            <a:off x="700833" y="2038350"/>
            <a:ext cx="5080000" cy="2781300"/>
          </a:xfrm>
          <a:prstGeom prst="rect">
            <a:avLst/>
          </a:prstGeom>
        </p:spPr>
      </p:pic>
      <p:pic>
        <p:nvPicPr>
          <p:cNvPr id="6" name="図 5">
            <a:extLst>
              <a:ext uri="{FF2B5EF4-FFF2-40B4-BE49-F238E27FC236}">
                <a16:creationId xmlns:a16="http://schemas.microsoft.com/office/drawing/2014/main" id="{62477753-5A37-4013-7295-8D1356CC7E50}"/>
              </a:ext>
            </a:extLst>
          </p:cNvPr>
          <p:cNvPicPr>
            <a:picLocks noChangeAspect="1"/>
          </p:cNvPicPr>
          <p:nvPr/>
        </p:nvPicPr>
        <p:blipFill>
          <a:blip r:embed="rId3"/>
          <a:stretch>
            <a:fillRect/>
          </a:stretch>
        </p:blipFill>
        <p:spPr>
          <a:xfrm>
            <a:off x="6644435" y="2038350"/>
            <a:ext cx="5080000" cy="2781300"/>
          </a:xfrm>
          <a:prstGeom prst="rect">
            <a:avLst/>
          </a:prstGeom>
        </p:spPr>
      </p:pic>
      <p:sp>
        <p:nvSpPr>
          <p:cNvPr id="7" name="テキスト ボックス 6">
            <a:extLst>
              <a:ext uri="{FF2B5EF4-FFF2-40B4-BE49-F238E27FC236}">
                <a16:creationId xmlns:a16="http://schemas.microsoft.com/office/drawing/2014/main" id="{0A295703-43D6-5E5A-CDD2-3981AFD56214}"/>
              </a:ext>
            </a:extLst>
          </p:cNvPr>
          <p:cNvSpPr txBox="1"/>
          <p:nvPr/>
        </p:nvSpPr>
        <p:spPr>
          <a:xfrm>
            <a:off x="1639195" y="4987829"/>
            <a:ext cx="3174267" cy="276999"/>
          </a:xfrm>
          <a:prstGeom prst="rect">
            <a:avLst/>
          </a:prstGeom>
          <a:noFill/>
        </p:spPr>
        <p:txBody>
          <a:bodyPr wrap="none" rtlCol="0">
            <a:spAutoFit/>
          </a:bodyPr>
          <a:lstStyle/>
          <a:p>
            <a:r>
              <a:rPr kumimoji="1" lang="ja-JP" altLang="en-US" sz="1200"/>
              <a:t>オブソレッセンスが確認された論文</a:t>
            </a:r>
            <a:r>
              <a:rPr kumimoji="1" lang="en-US" altLang="ja-JP" sz="1200"/>
              <a:t>(142</a:t>
            </a:r>
            <a:r>
              <a:rPr kumimoji="1" lang="ja-JP" altLang="en-US" sz="1200"/>
              <a:t>件</a:t>
            </a:r>
            <a:r>
              <a:rPr kumimoji="1" lang="en-US" altLang="ja-JP" sz="1200"/>
              <a:t>)</a:t>
            </a:r>
            <a:endParaRPr kumimoji="1" lang="ja-JP" altLang="en-US" sz="1200"/>
          </a:p>
        </p:txBody>
      </p:sp>
      <p:sp>
        <p:nvSpPr>
          <p:cNvPr id="8" name="テキスト ボックス 7">
            <a:extLst>
              <a:ext uri="{FF2B5EF4-FFF2-40B4-BE49-F238E27FC236}">
                <a16:creationId xmlns:a16="http://schemas.microsoft.com/office/drawing/2014/main" id="{3607CDF5-4C88-C6DE-1BD5-6F9E9545DAC2}"/>
              </a:ext>
            </a:extLst>
          </p:cNvPr>
          <p:cNvSpPr txBox="1"/>
          <p:nvPr/>
        </p:nvSpPr>
        <p:spPr>
          <a:xfrm>
            <a:off x="7545414" y="4989590"/>
            <a:ext cx="3635932" cy="276999"/>
          </a:xfrm>
          <a:prstGeom prst="rect">
            <a:avLst/>
          </a:prstGeom>
          <a:noFill/>
        </p:spPr>
        <p:txBody>
          <a:bodyPr wrap="none" rtlCol="0">
            <a:spAutoFit/>
          </a:bodyPr>
          <a:lstStyle/>
          <a:p>
            <a:r>
              <a:rPr kumimoji="1" lang="ja-JP" altLang="en-US" sz="1200"/>
              <a:t>オブソレッセンスが確認されなかった論文</a:t>
            </a:r>
            <a:r>
              <a:rPr kumimoji="1" lang="en-US" altLang="ja-JP" sz="1200"/>
              <a:t>(858</a:t>
            </a:r>
            <a:r>
              <a:rPr kumimoji="1" lang="ja-JP" altLang="en-US" sz="1200"/>
              <a:t>件</a:t>
            </a:r>
            <a:r>
              <a:rPr kumimoji="1" lang="en-US" altLang="ja-JP" sz="1200"/>
              <a:t>)</a:t>
            </a:r>
            <a:endParaRPr kumimoji="1" lang="ja-JP" altLang="en-US" sz="1200"/>
          </a:p>
        </p:txBody>
      </p:sp>
      <p:sp>
        <p:nvSpPr>
          <p:cNvPr id="9" name="テキスト ボックス 8">
            <a:extLst>
              <a:ext uri="{FF2B5EF4-FFF2-40B4-BE49-F238E27FC236}">
                <a16:creationId xmlns:a16="http://schemas.microsoft.com/office/drawing/2014/main" id="{7950698D-25A2-346F-3251-9028A045D59B}"/>
              </a:ext>
            </a:extLst>
          </p:cNvPr>
          <p:cNvSpPr txBox="1"/>
          <p:nvPr/>
        </p:nvSpPr>
        <p:spPr>
          <a:xfrm>
            <a:off x="9363380" y="1676381"/>
            <a:ext cx="2358338" cy="276999"/>
          </a:xfrm>
          <a:prstGeom prst="rect">
            <a:avLst/>
          </a:prstGeom>
          <a:noFill/>
        </p:spPr>
        <p:txBody>
          <a:bodyPr wrap="none" rtlCol="0">
            <a:spAutoFit/>
          </a:bodyPr>
          <a:lstStyle/>
          <a:p>
            <a:pPr marL="171450" indent="-171450">
              <a:buFont typeface="Arial" panose="020B0604020202020204" pitchFamily="34" charset="0"/>
              <a:buChar char="•"/>
            </a:pPr>
            <a:r>
              <a:rPr kumimoji="1" lang="ja-JP" altLang="en-US" sz="1200"/>
              <a:t>年間最大被引用数を持つ論文</a:t>
            </a:r>
          </a:p>
        </p:txBody>
      </p:sp>
      <p:sp>
        <p:nvSpPr>
          <p:cNvPr id="10" name="テキスト ボックス 9">
            <a:extLst>
              <a:ext uri="{FF2B5EF4-FFF2-40B4-BE49-F238E27FC236}">
                <a16:creationId xmlns:a16="http://schemas.microsoft.com/office/drawing/2014/main" id="{C9FACA67-F0BA-0A8A-EE4F-82170443E7A4}"/>
              </a:ext>
            </a:extLst>
          </p:cNvPr>
          <p:cNvSpPr txBox="1"/>
          <p:nvPr/>
        </p:nvSpPr>
        <p:spPr>
          <a:xfrm>
            <a:off x="3226328" y="1676381"/>
            <a:ext cx="2358338" cy="276999"/>
          </a:xfrm>
          <a:prstGeom prst="rect">
            <a:avLst/>
          </a:prstGeom>
          <a:noFill/>
        </p:spPr>
        <p:txBody>
          <a:bodyPr wrap="none" rtlCol="0">
            <a:spAutoFit/>
          </a:bodyPr>
          <a:lstStyle/>
          <a:p>
            <a:pPr marL="171450" indent="-171450">
              <a:buFont typeface="Arial" panose="020B0604020202020204" pitchFamily="34" charset="0"/>
              <a:buChar char="•"/>
            </a:pPr>
            <a:r>
              <a:rPr kumimoji="1" lang="ja-JP" altLang="en-US" sz="1200"/>
              <a:t>被引用数累積最大を持つ論文</a:t>
            </a:r>
          </a:p>
        </p:txBody>
      </p:sp>
    </p:spTree>
    <p:extLst>
      <p:ext uri="{BB962C8B-B14F-4D97-AF65-F5344CB8AC3E}">
        <p14:creationId xmlns:p14="http://schemas.microsoft.com/office/powerpoint/2010/main" val="3390747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34560-6F15-56C3-550E-DAD9B14EA141}"/>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603EEFC-FDD2-4D64-1873-8BEAA91B458A}"/>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pic>
        <p:nvPicPr>
          <p:cNvPr id="3" name="図 2">
            <a:extLst>
              <a:ext uri="{FF2B5EF4-FFF2-40B4-BE49-F238E27FC236}">
                <a16:creationId xmlns:a16="http://schemas.microsoft.com/office/drawing/2014/main" id="{22DE73E2-3309-7AD5-D816-8AA643BCB710}"/>
              </a:ext>
            </a:extLst>
          </p:cNvPr>
          <p:cNvPicPr>
            <a:picLocks noChangeAspect="1"/>
          </p:cNvPicPr>
          <p:nvPr/>
        </p:nvPicPr>
        <p:blipFill>
          <a:blip r:embed="rId2"/>
          <a:stretch>
            <a:fillRect/>
          </a:stretch>
        </p:blipFill>
        <p:spPr>
          <a:xfrm>
            <a:off x="9601" y="1315614"/>
            <a:ext cx="12182399" cy="4562670"/>
          </a:xfrm>
          <a:prstGeom prst="rect">
            <a:avLst/>
          </a:prstGeom>
        </p:spPr>
      </p:pic>
      <p:sp>
        <p:nvSpPr>
          <p:cNvPr id="5" name="テキスト ボックス 4">
            <a:extLst>
              <a:ext uri="{FF2B5EF4-FFF2-40B4-BE49-F238E27FC236}">
                <a16:creationId xmlns:a16="http://schemas.microsoft.com/office/drawing/2014/main" id="{B5E872AE-6966-48C6-5F7F-51E735C56CE5}"/>
              </a:ext>
            </a:extLst>
          </p:cNvPr>
          <p:cNvSpPr txBox="1"/>
          <p:nvPr/>
        </p:nvSpPr>
        <p:spPr>
          <a:xfrm>
            <a:off x="0" y="523220"/>
            <a:ext cx="4221027" cy="369332"/>
          </a:xfrm>
          <a:prstGeom prst="rect">
            <a:avLst/>
          </a:prstGeom>
          <a:noFill/>
        </p:spPr>
        <p:txBody>
          <a:bodyPr wrap="none" rtlCol="0">
            <a:spAutoFit/>
          </a:bodyPr>
          <a:lstStyle/>
          <a:p>
            <a:r>
              <a:rPr kumimoji="1" lang="ja-JP" altLang="en-US"/>
              <a:t>オブソレッセンス：到達論文</a:t>
            </a:r>
            <a:r>
              <a:rPr kumimoji="1" lang="en-US" altLang="ja-JP"/>
              <a:t>/</a:t>
            </a:r>
            <a:r>
              <a:rPr kumimoji="1" lang="ja-JP" altLang="en-US"/>
              <a:t>不達論文</a:t>
            </a:r>
            <a:endParaRPr kumimoji="1" lang="en-US" altLang="ja-JP"/>
          </a:p>
        </p:txBody>
      </p:sp>
      <p:sp>
        <p:nvSpPr>
          <p:cNvPr id="6" name="テキスト ボックス 5">
            <a:extLst>
              <a:ext uri="{FF2B5EF4-FFF2-40B4-BE49-F238E27FC236}">
                <a16:creationId xmlns:a16="http://schemas.microsoft.com/office/drawing/2014/main" id="{536B3F5F-BA42-1C5A-DC65-FBCF012929C8}"/>
              </a:ext>
            </a:extLst>
          </p:cNvPr>
          <p:cNvSpPr txBox="1"/>
          <p:nvPr/>
        </p:nvSpPr>
        <p:spPr>
          <a:xfrm>
            <a:off x="3638175" y="4071667"/>
            <a:ext cx="1239442" cy="276999"/>
          </a:xfrm>
          <a:prstGeom prst="rect">
            <a:avLst/>
          </a:prstGeom>
          <a:noFill/>
        </p:spPr>
        <p:txBody>
          <a:bodyPr wrap="none" rtlCol="0">
            <a:spAutoFit/>
          </a:bodyPr>
          <a:lstStyle/>
          <a:p>
            <a:r>
              <a:rPr kumimoji="1" lang="ja-JP" altLang="en-US" sz="1200"/>
              <a:t>最頻値</a:t>
            </a:r>
            <a:r>
              <a:rPr kumimoji="1" lang="en-US" altLang="ja-JP" sz="1200"/>
              <a:t>: 4~5</a:t>
            </a:r>
            <a:r>
              <a:rPr kumimoji="1" lang="ja-JP" altLang="en-US" sz="1200"/>
              <a:t>年</a:t>
            </a:r>
            <a:r>
              <a:rPr kumimoji="1" lang="en-US" altLang="ja-JP" sz="1200"/>
              <a:t>*</a:t>
            </a:r>
            <a:endParaRPr kumimoji="1" lang="ja-JP" altLang="en-US" sz="1200"/>
          </a:p>
        </p:txBody>
      </p:sp>
      <p:sp>
        <p:nvSpPr>
          <p:cNvPr id="7" name="テキスト ボックス 6">
            <a:extLst>
              <a:ext uri="{FF2B5EF4-FFF2-40B4-BE49-F238E27FC236}">
                <a16:creationId xmlns:a16="http://schemas.microsoft.com/office/drawing/2014/main" id="{1B4EFD96-6A0E-5489-CB1C-46AEB9978C00}"/>
              </a:ext>
            </a:extLst>
          </p:cNvPr>
          <p:cNvSpPr txBox="1"/>
          <p:nvPr/>
        </p:nvSpPr>
        <p:spPr>
          <a:xfrm>
            <a:off x="3638175" y="2093343"/>
            <a:ext cx="1335622" cy="276999"/>
          </a:xfrm>
          <a:prstGeom prst="rect">
            <a:avLst/>
          </a:prstGeom>
          <a:noFill/>
        </p:spPr>
        <p:txBody>
          <a:bodyPr wrap="none" rtlCol="0">
            <a:spAutoFit/>
          </a:bodyPr>
          <a:lstStyle/>
          <a:p>
            <a:r>
              <a:rPr kumimoji="1" lang="ja-JP" altLang="en-US" sz="1200"/>
              <a:t>最頻値</a:t>
            </a:r>
            <a:r>
              <a:rPr kumimoji="1" lang="en-US" altLang="ja-JP" sz="1200"/>
              <a:t>: 12~13</a:t>
            </a:r>
            <a:r>
              <a:rPr kumimoji="1" lang="ja-JP" altLang="en-US" sz="1200"/>
              <a:t>年</a:t>
            </a:r>
          </a:p>
        </p:txBody>
      </p:sp>
      <p:sp>
        <p:nvSpPr>
          <p:cNvPr id="8" name="テキスト ボックス 7">
            <a:extLst>
              <a:ext uri="{FF2B5EF4-FFF2-40B4-BE49-F238E27FC236}">
                <a16:creationId xmlns:a16="http://schemas.microsoft.com/office/drawing/2014/main" id="{C82DE749-EEC5-6870-241F-58AF8838A604}"/>
              </a:ext>
            </a:extLst>
          </p:cNvPr>
          <p:cNvSpPr txBox="1"/>
          <p:nvPr/>
        </p:nvSpPr>
        <p:spPr>
          <a:xfrm>
            <a:off x="7417194" y="4071666"/>
            <a:ext cx="1165704" cy="276999"/>
          </a:xfrm>
          <a:prstGeom prst="rect">
            <a:avLst/>
          </a:prstGeom>
          <a:noFill/>
        </p:spPr>
        <p:txBody>
          <a:bodyPr wrap="none" rtlCol="0">
            <a:spAutoFit/>
          </a:bodyPr>
          <a:lstStyle/>
          <a:p>
            <a:r>
              <a:rPr kumimoji="1" lang="ja-JP" altLang="en-US" sz="1200"/>
              <a:t>最頻値</a:t>
            </a:r>
            <a:r>
              <a:rPr kumimoji="1" lang="en-US" altLang="ja-JP" sz="1200"/>
              <a:t>: 6~7</a:t>
            </a:r>
            <a:r>
              <a:rPr kumimoji="1" lang="ja-JP" altLang="en-US" sz="1200"/>
              <a:t>年</a:t>
            </a:r>
          </a:p>
        </p:txBody>
      </p:sp>
      <p:sp>
        <p:nvSpPr>
          <p:cNvPr id="9" name="テキスト ボックス 8">
            <a:extLst>
              <a:ext uri="{FF2B5EF4-FFF2-40B4-BE49-F238E27FC236}">
                <a16:creationId xmlns:a16="http://schemas.microsoft.com/office/drawing/2014/main" id="{78C1B467-E23B-3919-77D2-4BB1600BDC98}"/>
              </a:ext>
            </a:extLst>
          </p:cNvPr>
          <p:cNvSpPr txBox="1"/>
          <p:nvPr/>
        </p:nvSpPr>
        <p:spPr>
          <a:xfrm>
            <a:off x="7417194" y="2093343"/>
            <a:ext cx="1165704" cy="276999"/>
          </a:xfrm>
          <a:prstGeom prst="rect">
            <a:avLst/>
          </a:prstGeom>
          <a:noFill/>
        </p:spPr>
        <p:txBody>
          <a:bodyPr wrap="none" rtlCol="0">
            <a:spAutoFit/>
          </a:bodyPr>
          <a:lstStyle/>
          <a:p>
            <a:r>
              <a:rPr kumimoji="1" lang="ja-JP" altLang="en-US" sz="1200"/>
              <a:t>最頻値</a:t>
            </a:r>
            <a:r>
              <a:rPr kumimoji="1" lang="en-US" altLang="ja-JP" sz="1200"/>
              <a:t>: 6~7</a:t>
            </a:r>
            <a:r>
              <a:rPr kumimoji="1" lang="ja-JP" altLang="en-US" sz="1200"/>
              <a:t>年</a:t>
            </a:r>
          </a:p>
        </p:txBody>
      </p:sp>
      <p:sp>
        <p:nvSpPr>
          <p:cNvPr id="10" name="テキスト ボックス 9">
            <a:extLst>
              <a:ext uri="{FF2B5EF4-FFF2-40B4-BE49-F238E27FC236}">
                <a16:creationId xmlns:a16="http://schemas.microsoft.com/office/drawing/2014/main" id="{E47AB9CB-3B66-9936-9519-72DE937FC173}"/>
              </a:ext>
            </a:extLst>
          </p:cNvPr>
          <p:cNvSpPr txBox="1"/>
          <p:nvPr/>
        </p:nvSpPr>
        <p:spPr>
          <a:xfrm>
            <a:off x="10769994" y="4071665"/>
            <a:ext cx="1335622" cy="276999"/>
          </a:xfrm>
          <a:prstGeom prst="rect">
            <a:avLst/>
          </a:prstGeom>
          <a:noFill/>
        </p:spPr>
        <p:txBody>
          <a:bodyPr wrap="none" rtlCol="0">
            <a:spAutoFit/>
          </a:bodyPr>
          <a:lstStyle/>
          <a:p>
            <a:r>
              <a:rPr kumimoji="1" lang="ja-JP" altLang="en-US" sz="1200"/>
              <a:t>最頻値</a:t>
            </a:r>
            <a:r>
              <a:rPr kumimoji="1" lang="en-US" altLang="ja-JP" sz="1200"/>
              <a:t>: 16~17</a:t>
            </a:r>
            <a:r>
              <a:rPr kumimoji="1" lang="ja-JP" altLang="en-US" sz="1200"/>
              <a:t>年</a:t>
            </a:r>
          </a:p>
        </p:txBody>
      </p:sp>
      <p:sp>
        <p:nvSpPr>
          <p:cNvPr id="11" name="テキスト ボックス 10">
            <a:extLst>
              <a:ext uri="{FF2B5EF4-FFF2-40B4-BE49-F238E27FC236}">
                <a16:creationId xmlns:a16="http://schemas.microsoft.com/office/drawing/2014/main" id="{BBF45846-F403-4340-424E-007BA920ED1B}"/>
              </a:ext>
            </a:extLst>
          </p:cNvPr>
          <p:cNvSpPr txBox="1"/>
          <p:nvPr/>
        </p:nvSpPr>
        <p:spPr>
          <a:xfrm>
            <a:off x="10769994" y="2093343"/>
            <a:ext cx="1335622" cy="276999"/>
          </a:xfrm>
          <a:prstGeom prst="rect">
            <a:avLst/>
          </a:prstGeom>
          <a:noFill/>
        </p:spPr>
        <p:txBody>
          <a:bodyPr wrap="none" rtlCol="0">
            <a:spAutoFit/>
          </a:bodyPr>
          <a:lstStyle/>
          <a:p>
            <a:r>
              <a:rPr kumimoji="1" lang="ja-JP" altLang="en-US" sz="1200"/>
              <a:t>最頻値</a:t>
            </a:r>
            <a:r>
              <a:rPr kumimoji="1" lang="en-US" altLang="ja-JP" sz="1200"/>
              <a:t>: 18~19</a:t>
            </a:r>
            <a:r>
              <a:rPr kumimoji="1" lang="ja-JP" altLang="en-US" sz="1200"/>
              <a:t>年</a:t>
            </a:r>
          </a:p>
        </p:txBody>
      </p:sp>
      <p:sp>
        <p:nvSpPr>
          <p:cNvPr id="12" name="テキスト ボックス 11">
            <a:extLst>
              <a:ext uri="{FF2B5EF4-FFF2-40B4-BE49-F238E27FC236}">
                <a16:creationId xmlns:a16="http://schemas.microsoft.com/office/drawing/2014/main" id="{778FB87D-49F8-0953-1D8C-86A2CC4C0717}"/>
              </a:ext>
            </a:extLst>
          </p:cNvPr>
          <p:cNvSpPr txBox="1"/>
          <p:nvPr/>
        </p:nvSpPr>
        <p:spPr>
          <a:xfrm>
            <a:off x="8582898" y="6194348"/>
            <a:ext cx="3499676" cy="461665"/>
          </a:xfrm>
          <a:prstGeom prst="rect">
            <a:avLst/>
          </a:prstGeom>
          <a:noFill/>
        </p:spPr>
        <p:txBody>
          <a:bodyPr wrap="none" rtlCol="0">
            <a:spAutoFit/>
          </a:bodyPr>
          <a:lstStyle/>
          <a:p>
            <a:r>
              <a:rPr kumimoji="1" lang="en-US" altLang="ja-JP" sz="1200"/>
              <a:t>*</a:t>
            </a:r>
            <a:r>
              <a:rPr lang="en" altLang="ja-JP" sz="1200"/>
              <a:t>P.D.B Parolo </a:t>
            </a:r>
            <a:r>
              <a:rPr lang="ja-JP" altLang="en-US" sz="1200"/>
              <a:t>らの報告</a:t>
            </a:r>
            <a:r>
              <a:rPr lang="en-US" altLang="ja-JP" sz="1200"/>
              <a:t> (</a:t>
            </a:r>
            <a:r>
              <a:rPr lang="en" altLang="ja-JP" sz="1200"/>
              <a:t>Journal of Informatics,</a:t>
            </a:r>
          </a:p>
          <a:p>
            <a:r>
              <a:rPr lang="en" altLang="ja-JP" sz="1200"/>
              <a:t>Vol. 9, No. 4, pp. 734–745, 2015</a:t>
            </a:r>
            <a:r>
              <a:rPr lang="en-US" altLang="ja-JP" sz="1200"/>
              <a:t>) </a:t>
            </a:r>
            <a:r>
              <a:rPr lang="ja-JP" altLang="en-US" sz="1200"/>
              <a:t>と整合的</a:t>
            </a:r>
          </a:p>
        </p:txBody>
      </p:sp>
    </p:spTree>
    <p:extLst>
      <p:ext uri="{BB962C8B-B14F-4D97-AF65-F5344CB8AC3E}">
        <p14:creationId xmlns:p14="http://schemas.microsoft.com/office/powerpoint/2010/main" val="3626665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E877D-AB6A-ACEB-BEFE-CDD90882CB7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8F481DA-4D6D-4903-F69C-6C3987A11BFE}"/>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kumimoji="1" lang="ja-JP" altLang="en-US" sz="2800"/>
              <a:t>結果</a:t>
            </a:r>
          </a:p>
        </p:txBody>
      </p:sp>
      <p:sp>
        <p:nvSpPr>
          <p:cNvPr id="2" name="テキスト ボックス 1">
            <a:extLst>
              <a:ext uri="{FF2B5EF4-FFF2-40B4-BE49-F238E27FC236}">
                <a16:creationId xmlns:a16="http://schemas.microsoft.com/office/drawing/2014/main" id="{F0D6C463-0BE1-C8F0-43FA-FDD994FF816E}"/>
              </a:ext>
            </a:extLst>
          </p:cNvPr>
          <p:cNvSpPr txBox="1"/>
          <p:nvPr/>
        </p:nvSpPr>
        <p:spPr>
          <a:xfrm>
            <a:off x="0" y="523220"/>
            <a:ext cx="7741222" cy="923330"/>
          </a:xfrm>
          <a:prstGeom prst="rect">
            <a:avLst/>
          </a:prstGeom>
          <a:noFill/>
        </p:spPr>
        <p:txBody>
          <a:bodyPr wrap="none" rtlCol="0">
            <a:spAutoFit/>
          </a:bodyPr>
          <a:lstStyle/>
          <a:p>
            <a:r>
              <a:rPr lang="ja-JP" altLang="en-US"/>
              <a:t>リバイバル</a:t>
            </a:r>
            <a:r>
              <a:rPr kumimoji="1" lang="ja-JP" altLang="en-US"/>
              <a:t>性：オブソレッセンス到達論文</a:t>
            </a:r>
            <a:r>
              <a:rPr kumimoji="1" lang="en-US" altLang="ja-JP"/>
              <a:t>/</a:t>
            </a:r>
            <a:r>
              <a:rPr kumimoji="1" lang="ja-JP" altLang="en-US"/>
              <a:t>不達論文</a:t>
            </a:r>
            <a:endParaRPr kumimoji="1" lang="en-US" altLang="ja-JP"/>
          </a:p>
          <a:p>
            <a:pPr marL="285750" indent="-285750">
              <a:buFont typeface="Arial" panose="020B0604020202020204" pitchFamily="34" charset="0"/>
              <a:buChar char="•"/>
            </a:pPr>
            <a:r>
              <a:rPr kumimoji="1" lang="ja-JP" altLang="en-US"/>
              <a:t>被引用リバイバル</a:t>
            </a:r>
            <a:r>
              <a:rPr lang="ja-JP" altLang="en-US"/>
              <a:t>とオブソレッセンスが関係しているか</a:t>
            </a:r>
            <a:endParaRPr lang="en-US" altLang="ja-JP"/>
          </a:p>
          <a:p>
            <a:pPr marL="742950" lvl="1" indent="-285750">
              <a:buFont typeface="Arial" panose="020B0604020202020204" pitchFamily="34" charset="0"/>
              <a:buChar char="•"/>
            </a:pPr>
            <a:r>
              <a:rPr lang="ja-JP" altLang="en-US"/>
              <a:t>多峰性指標値にオブソレッセンス到達論文</a:t>
            </a:r>
            <a:r>
              <a:rPr lang="en-US" altLang="ja-JP"/>
              <a:t>/</a:t>
            </a:r>
            <a:r>
              <a:rPr lang="ja-JP" altLang="en-US"/>
              <a:t>不達論文で差があるか</a:t>
            </a:r>
            <a:endParaRPr kumimoji="1" lang="en-US" altLang="ja-JP"/>
          </a:p>
        </p:txBody>
      </p:sp>
      <p:sp>
        <p:nvSpPr>
          <p:cNvPr id="3" name="テキスト ボックス 2">
            <a:extLst>
              <a:ext uri="{FF2B5EF4-FFF2-40B4-BE49-F238E27FC236}">
                <a16:creationId xmlns:a16="http://schemas.microsoft.com/office/drawing/2014/main" id="{789AB72A-D294-5613-A163-62B97CB46CB5}"/>
              </a:ext>
            </a:extLst>
          </p:cNvPr>
          <p:cNvSpPr txBox="1"/>
          <p:nvPr/>
        </p:nvSpPr>
        <p:spPr>
          <a:xfrm>
            <a:off x="0" y="1535502"/>
            <a:ext cx="6567824" cy="1754326"/>
          </a:xfrm>
          <a:prstGeom prst="rect">
            <a:avLst/>
          </a:prstGeom>
          <a:noFill/>
        </p:spPr>
        <p:txBody>
          <a:bodyPr wrap="none" rtlCol="0">
            <a:spAutoFit/>
          </a:bodyPr>
          <a:lstStyle/>
          <a:p>
            <a:r>
              <a:rPr lang="ja-JP" altLang="en-US"/>
              <a:t>指標：</a:t>
            </a:r>
            <a:endParaRPr lang="en-US" altLang="ja-JP"/>
          </a:p>
          <a:p>
            <a:pPr marL="285750" indent="-285750">
              <a:buFont typeface="Arial" panose="020B0604020202020204" pitchFamily="34" charset="0"/>
              <a:buChar char="•"/>
            </a:pPr>
            <a:r>
              <a:rPr lang="ja-JP" altLang="en-US"/>
              <a:t>入力</a:t>
            </a:r>
            <a:r>
              <a:rPr lang="en-US" altLang="ja-JP"/>
              <a:t>: </a:t>
            </a:r>
            <a:r>
              <a:rPr lang="ja-JP" altLang="en-US"/>
              <a:t>年間被引用数のリスト</a:t>
            </a:r>
            <a:endParaRPr lang="en-US" altLang="ja-JP"/>
          </a:p>
          <a:p>
            <a:pPr marL="285750" indent="-285750">
              <a:buFont typeface="Arial" panose="020B0604020202020204" pitchFamily="34" charset="0"/>
              <a:buChar char="•"/>
            </a:pPr>
            <a:r>
              <a:rPr kumimoji="1" lang="en-US" altLang="ja-JP"/>
              <a:t>Gaussian Mixture Model (GMM) : python</a:t>
            </a:r>
            <a:r>
              <a:rPr kumimoji="1" lang="ja-JP" altLang="en-US"/>
              <a:t>モジュール、</a:t>
            </a:r>
            <a:r>
              <a:rPr kumimoji="1" lang="en-US" altLang="ja-JP"/>
              <a:t>1~</a:t>
            </a:r>
          </a:p>
          <a:p>
            <a:pPr marL="285750" indent="-285750">
              <a:buFont typeface="Arial" panose="020B0604020202020204" pitchFamily="34" charset="0"/>
              <a:buChar char="•"/>
            </a:pPr>
            <a:r>
              <a:rPr lang="en-US" altLang="ja-JP"/>
              <a:t>Kernel Density Estimation (KDE) : python</a:t>
            </a:r>
            <a:r>
              <a:rPr lang="ja-JP" altLang="en-US"/>
              <a:t>モジュール、</a:t>
            </a:r>
            <a:r>
              <a:rPr lang="en-US" altLang="ja-JP"/>
              <a:t>1~</a:t>
            </a:r>
          </a:p>
          <a:p>
            <a:pPr marL="285750" indent="-285750">
              <a:buFont typeface="Arial" panose="020B0604020202020204" pitchFamily="34" charset="0"/>
              <a:buChar char="•"/>
            </a:pPr>
            <a:r>
              <a:rPr lang="ja-JP" altLang="en-US"/>
              <a:t>単調</a:t>
            </a:r>
            <a:r>
              <a:rPr kumimoji="1" lang="ja-JP" altLang="en-US"/>
              <a:t>増加検知</a:t>
            </a:r>
            <a:r>
              <a:rPr kumimoji="1" lang="en-US" altLang="ja-JP"/>
              <a:t> (MC) : </a:t>
            </a:r>
            <a:r>
              <a:rPr kumimoji="1" lang="ja-JP" altLang="en-US"/>
              <a:t>独自プログラム</a:t>
            </a:r>
            <a:r>
              <a:rPr kumimoji="1" lang="en-US" altLang="ja-JP"/>
              <a:t>*</a:t>
            </a:r>
            <a:r>
              <a:rPr kumimoji="1" lang="ja-JP" altLang="en-US"/>
              <a:t>、</a:t>
            </a:r>
            <a:r>
              <a:rPr kumimoji="1" lang="en-US" altLang="ja-JP"/>
              <a:t>1~</a:t>
            </a:r>
          </a:p>
          <a:p>
            <a:pPr marL="285750" indent="-285750">
              <a:buFont typeface="Arial" panose="020B0604020202020204" pitchFamily="34" charset="0"/>
              <a:buChar char="•"/>
            </a:pPr>
            <a:r>
              <a:rPr lang="ja-JP" altLang="en-US"/>
              <a:t>ピーク推定</a:t>
            </a:r>
            <a:r>
              <a:rPr lang="en-US" altLang="ja-JP"/>
              <a:t>: </a:t>
            </a:r>
            <a:r>
              <a:rPr lang="en-US" altLang="ja-JP" i="1"/>
              <a:t>pk</a:t>
            </a:r>
            <a:r>
              <a:rPr lang="en-US" altLang="ja-JP"/>
              <a:t> = min(GMM,KDE,MC)</a:t>
            </a:r>
            <a:r>
              <a:rPr lang="ja-JP" altLang="en-US"/>
              <a:t>、</a:t>
            </a:r>
            <a:r>
              <a:rPr lang="en-US" altLang="ja-JP"/>
              <a:t>1~</a:t>
            </a:r>
            <a:endParaRPr kumimoji="1" lang="ja-JP" altLang="en-US"/>
          </a:p>
        </p:txBody>
      </p:sp>
      <p:graphicFrame>
        <p:nvGraphicFramePr>
          <p:cNvPr id="6" name="表 5">
            <a:extLst>
              <a:ext uri="{FF2B5EF4-FFF2-40B4-BE49-F238E27FC236}">
                <a16:creationId xmlns:a16="http://schemas.microsoft.com/office/drawing/2014/main" id="{02E83F16-DC46-20C2-5986-CA6E0476A4AE}"/>
              </a:ext>
            </a:extLst>
          </p:cNvPr>
          <p:cNvGraphicFramePr>
            <a:graphicFrameLocks noGrp="1"/>
          </p:cNvGraphicFramePr>
          <p:nvPr>
            <p:extLst>
              <p:ext uri="{D42A27DB-BD31-4B8C-83A1-F6EECF244321}">
                <p14:modId xmlns:p14="http://schemas.microsoft.com/office/powerpoint/2010/main" val="634428648"/>
              </p:ext>
            </p:extLst>
          </p:nvPr>
        </p:nvGraphicFramePr>
        <p:xfrm>
          <a:off x="998376" y="3678131"/>
          <a:ext cx="6700400" cy="1920240"/>
        </p:xfrm>
        <a:graphic>
          <a:graphicData uri="http://schemas.openxmlformats.org/drawingml/2006/table">
            <a:tbl>
              <a:tblPr firstRow="1" bandRow="1">
                <a:tableStyleId>{5C22544A-7EE6-4342-B048-85BDC9FD1C3A}</a:tableStyleId>
              </a:tblPr>
              <a:tblGrid>
                <a:gridCol w="1675100">
                  <a:extLst>
                    <a:ext uri="{9D8B030D-6E8A-4147-A177-3AD203B41FA5}">
                      <a16:colId xmlns:a16="http://schemas.microsoft.com/office/drawing/2014/main" val="3471939575"/>
                    </a:ext>
                  </a:extLst>
                </a:gridCol>
                <a:gridCol w="1675100">
                  <a:extLst>
                    <a:ext uri="{9D8B030D-6E8A-4147-A177-3AD203B41FA5}">
                      <a16:colId xmlns:a16="http://schemas.microsoft.com/office/drawing/2014/main" val="1617954"/>
                    </a:ext>
                  </a:extLst>
                </a:gridCol>
                <a:gridCol w="1675100">
                  <a:extLst>
                    <a:ext uri="{9D8B030D-6E8A-4147-A177-3AD203B41FA5}">
                      <a16:colId xmlns:a16="http://schemas.microsoft.com/office/drawing/2014/main" val="1534340992"/>
                    </a:ext>
                  </a:extLst>
                </a:gridCol>
                <a:gridCol w="1675100">
                  <a:extLst>
                    <a:ext uri="{9D8B030D-6E8A-4147-A177-3AD203B41FA5}">
                      <a16:colId xmlns:a16="http://schemas.microsoft.com/office/drawing/2014/main" val="1388387669"/>
                    </a:ext>
                  </a:extLst>
                </a:gridCol>
              </a:tblGrid>
              <a:tr h="370840">
                <a:tc>
                  <a:txBody>
                    <a:bodyPr/>
                    <a:lstStyle/>
                    <a:p>
                      <a:r>
                        <a:rPr kumimoji="1" lang="ja-JP" altLang="en-US"/>
                        <a:t>オブソレッセンス</a:t>
                      </a:r>
                    </a:p>
                  </a:txBody>
                  <a:tcPr/>
                </a:tc>
                <a:tc>
                  <a:txBody>
                    <a:bodyPr/>
                    <a:lstStyle/>
                    <a:p>
                      <a:r>
                        <a:rPr kumimoji="1" lang="ja-JP" altLang="en-US"/>
                        <a:t>多峰性</a:t>
                      </a:r>
                      <a:r>
                        <a:rPr kumimoji="1" lang="en-US" altLang="ja-JP"/>
                        <a:t>(</a:t>
                      </a:r>
                      <a:r>
                        <a:rPr kumimoji="1" lang="en-US" altLang="ja-JP" i="1"/>
                        <a:t>pk</a:t>
                      </a:r>
                      <a:r>
                        <a:rPr kumimoji="1" lang="en-US" altLang="ja-JP"/>
                        <a:t> </a:t>
                      </a:r>
                      <a:r>
                        <a:rPr kumimoji="1" lang="ja-JP" altLang="en-US"/>
                        <a:t>≧</a:t>
                      </a:r>
                      <a:r>
                        <a:rPr kumimoji="1" lang="en-US" altLang="ja-JP"/>
                        <a:t> 2)</a:t>
                      </a:r>
                      <a:endParaRPr kumimoji="1" lang="ja-JP" altLang="en-US"/>
                    </a:p>
                  </a:txBody>
                  <a:tcPr/>
                </a:tc>
                <a:tc>
                  <a:txBody>
                    <a:bodyPr/>
                    <a:lstStyle/>
                    <a:p>
                      <a:r>
                        <a:rPr kumimoji="1" lang="en-US" altLang="ja-JP" i="1"/>
                        <a:t>pk</a:t>
                      </a:r>
                      <a:r>
                        <a:rPr kumimoji="1" lang="en-US" altLang="ja-JP"/>
                        <a:t> </a:t>
                      </a:r>
                      <a:r>
                        <a:rPr kumimoji="1" lang="ja-JP" altLang="en-US"/>
                        <a:t>平均</a:t>
                      </a:r>
                    </a:p>
                  </a:txBody>
                  <a:tcPr/>
                </a:tc>
                <a:tc>
                  <a:txBody>
                    <a:bodyPr/>
                    <a:lstStyle/>
                    <a:p>
                      <a:r>
                        <a:rPr kumimoji="1" lang="ja-JP" altLang="en-US"/>
                        <a:t>算出不可</a:t>
                      </a:r>
                    </a:p>
                  </a:txBody>
                  <a:tcPr/>
                </a:tc>
                <a:extLst>
                  <a:ext uri="{0D108BD9-81ED-4DB2-BD59-A6C34878D82A}">
                    <a16:rowId xmlns:a16="http://schemas.microsoft.com/office/drawing/2014/main" val="878405913"/>
                  </a:ext>
                </a:extLst>
              </a:tr>
              <a:tr h="370840">
                <a:tc>
                  <a:txBody>
                    <a:bodyPr/>
                    <a:lstStyle/>
                    <a:p>
                      <a:r>
                        <a:rPr kumimoji="1" lang="ja-JP" altLang="en-US"/>
                        <a:t>到達論文</a:t>
                      </a:r>
                    </a:p>
                  </a:txBody>
                  <a:tcPr/>
                </a:tc>
                <a:tc>
                  <a:txBody>
                    <a:bodyPr/>
                    <a:lstStyle/>
                    <a:p>
                      <a:r>
                        <a:rPr kumimoji="1" lang="en-US" altLang="ja-JP"/>
                        <a:t>81 / 142 (57%)</a:t>
                      </a:r>
                      <a:endParaRPr kumimoji="1" lang="ja-JP" altLang="en-US"/>
                    </a:p>
                  </a:txBody>
                  <a:tcPr/>
                </a:tc>
                <a:tc>
                  <a:txBody>
                    <a:bodyPr/>
                    <a:lstStyle/>
                    <a:p>
                      <a:r>
                        <a:rPr kumimoji="1" lang="en-US" altLang="ja-JP"/>
                        <a:t>1.59</a:t>
                      </a:r>
                      <a:endParaRPr kumimoji="1" lang="ja-JP" altLang="en-US"/>
                    </a:p>
                  </a:txBody>
                  <a:tcPr/>
                </a:tc>
                <a:tc>
                  <a:txBody>
                    <a:bodyPr/>
                    <a:lstStyle/>
                    <a:p>
                      <a:r>
                        <a:rPr kumimoji="1" lang="en-US" altLang="ja-JP"/>
                        <a:t>0</a:t>
                      </a:r>
                      <a:endParaRPr kumimoji="1" lang="ja-JP" altLang="en-US"/>
                    </a:p>
                  </a:txBody>
                  <a:tcPr/>
                </a:tc>
                <a:extLst>
                  <a:ext uri="{0D108BD9-81ED-4DB2-BD59-A6C34878D82A}">
                    <a16:rowId xmlns:a16="http://schemas.microsoft.com/office/drawing/2014/main" val="3149655461"/>
                  </a:ext>
                </a:extLst>
              </a:tr>
              <a:tr h="370840">
                <a:tc>
                  <a:txBody>
                    <a:bodyPr/>
                    <a:lstStyle/>
                    <a:p>
                      <a:r>
                        <a:rPr kumimoji="1" lang="ja-JP" altLang="en-US"/>
                        <a:t>不達論文</a:t>
                      </a:r>
                    </a:p>
                  </a:txBody>
                  <a:tcPr/>
                </a:tc>
                <a:tc>
                  <a:txBody>
                    <a:bodyPr/>
                    <a:lstStyle/>
                    <a:p>
                      <a:r>
                        <a:rPr kumimoji="1" lang="en-US" altLang="ja-JP"/>
                        <a:t>484 / 839 (58%)</a:t>
                      </a:r>
                      <a:endParaRPr kumimoji="1" lang="ja-JP" altLang="en-US"/>
                    </a:p>
                  </a:txBody>
                  <a:tcPr/>
                </a:tc>
                <a:tc>
                  <a:txBody>
                    <a:bodyPr/>
                    <a:lstStyle/>
                    <a:p>
                      <a:r>
                        <a:rPr kumimoji="1" lang="en-US" altLang="ja-JP"/>
                        <a:t>1.58</a:t>
                      </a:r>
                      <a:endParaRPr kumimoji="1" lang="ja-JP" altLang="en-US"/>
                    </a:p>
                  </a:txBody>
                  <a:tcPr/>
                </a:tc>
                <a:tc>
                  <a:txBody>
                    <a:bodyPr/>
                    <a:lstStyle/>
                    <a:p>
                      <a:r>
                        <a:rPr kumimoji="1" lang="en-US" altLang="ja-JP"/>
                        <a:t>19</a:t>
                      </a:r>
                      <a:endParaRPr kumimoji="1" lang="ja-JP" altLang="en-US"/>
                    </a:p>
                  </a:txBody>
                  <a:tcPr/>
                </a:tc>
                <a:extLst>
                  <a:ext uri="{0D108BD9-81ED-4DB2-BD59-A6C34878D82A}">
                    <a16:rowId xmlns:a16="http://schemas.microsoft.com/office/drawing/2014/main" val="2341858285"/>
                  </a:ext>
                </a:extLst>
              </a:tr>
            </a:tbl>
          </a:graphicData>
        </a:graphic>
      </p:graphicFrame>
      <p:sp>
        <p:nvSpPr>
          <p:cNvPr id="7" name="右中かっこ 6">
            <a:extLst>
              <a:ext uri="{FF2B5EF4-FFF2-40B4-BE49-F238E27FC236}">
                <a16:creationId xmlns:a16="http://schemas.microsoft.com/office/drawing/2014/main" id="{96466761-E52B-8614-7575-ADD6B989FE61}"/>
              </a:ext>
            </a:extLst>
          </p:cNvPr>
          <p:cNvSpPr/>
          <p:nvPr/>
        </p:nvSpPr>
        <p:spPr>
          <a:xfrm>
            <a:off x="7813931" y="4563547"/>
            <a:ext cx="319177" cy="646981"/>
          </a:xfrm>
          <a:prstGeom prst="righ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868516C-B7D8-775B-5AE8-D658E34B071F}"/>
              </a:ext>
            </a:extLst>
          </p:cNvPr>
          <p:cNvSpPr txBox="1"/>
          <p:nvPr/>
        </p:nvSpPr>
        <p:spPr>
          <a:xfrm>
            <a:off x="8248261" y="4727209"/>
            <a:ext cx="3305713" cy="307777"/>
          </a:xfrm>
          <a:prstGeom prst="rect">
            <a:avLst/>
          </a:prstGeom>
          <a:noFill/>
        </p:spPr>
        <p:txBody>
          <a:bodyPr wrap="none" rtlCol="0">
            <a:spAutoFit/>
          </a:bodyPr>
          <a:lstStyle/>
          <a:p>
            <a:r>
              <a:rPr kumimoji="1" lang="en-US" altLang="ja-JP" sz="1400" i="1"/>
              <a:t>pk</a:t>
            </a:r>
            <a:r>
              <a:rPr kumimoji="1" lang="en-US" altLang="ja-JP" sz="1400"/>
              <a:t> </a:t>
            </a:r>
            <a:r>
              <a:rPr kumimoji="1" lang="ja-JP" altLang="en-US" sz="1400"/>
              <a:t>による</a:t>
            </a:r>
            <a:r>
              <a:rPr kumimoji="1" lang="en-US" altLang="ja-JP" sz="1400"/>
              <a:t>Mann-Whitney</a:t>
            </a:r>
            <a:r>
              <a:rPr kumimoji="1" lang="ja-JP" altLang="en-US" sz="1400"/>
              <a:t>検定</a:t>
            </a:r>
            <a:r>
              <a:rPr kumimoji="1" lang="en-US" altLang="ja-JP" sz="1400"/>
              <a:t> : P=0.97</a:t>
            </a:r>
            <a:endParaRPr kumimoji="1" lang="ja-JP" altLang="en-US" sz="1400"/>
          </a:p>
        </p:txBody>
      </p:sp>
      <p:sp>
        <p:nvSpPr>
          <p:cNvPr id="9" name="テキスト ボックス 8">
            <a:extLst>
              <a:ext uri="{FF2B5EF4-FFF2-40B4-BE49-F238E27FC236}">
                <a16:creationId xmlns:a16="http://schemas.microsoft.com/office/drawing/2014/main" id="{712AE9E9-DE77-E271-17BD-F09D1EB293AF}"/>
              </a:ext>
            </a:extLst>
          </p:cNvPr>
          <p:cNvSpPr txBox="1"/>
          <p:nvPr/>
        </p:nvSpPr>
        <p:spPr>
          <a:xfrm>
            <a:off x="7348721" y="6409425"/>
            <a:ext cx="4677884" cy="307777"/>
          </a:xfrm>
          <a:prstGeom prst="rect">
            <a:avLst/>
          </a:prstGeom>
          <a:noFill/>
        </p:spPr>
        <p:txBody>
          <a:bodyPr wrap="none" rtlCol="0">
            <a:spAutoFit/>
          </a:bodyPr>
          <a:lstStyle/>
          <a:p>
            <a:r>
              <a:rPr kumimoji="1" lang="en-US" altLang="ja-JP" sz="1400"/>
              <a:t>*</a:t>
            </a:r>
            <a:r>
              <a:rPr lang="ja-JP" altLang="en-US" sz="1400"/>
              <a:t>単調</a:t>
            </a:r>
            <a:r>
              <a:rPr kumimoji="1" lang="ja-JP" altLang="en-US" sz="1400"/>
              <a:t>増加を検出すると</a:t>
            </a:r>
            <a:r>
              <a:rPr kumimoji="1" lang="en-US" altLang="ja-JP" sz="1400"/>
              <a:t>1</a:t>
            </a:r>
            <a:r>
              <a:rPr kumimoji="1" lang="ja-JP" altLang="en-US" sz="1400"/>
              <a:t>、それ以外では大きな数を返す</a:t>
            </a:r>
          </a:p>
        </p:txBody>
      </p:sp>
    </p:spTree>
    <p:extLst>
      <p:ext uri="{BB962C8B-B14F-4D97-AF65-F5344CB8AC3E}">
        <p14:creationId xmlns:p14="http://schemas.microsoft.com/office/powerpoint/2010/main" val="3161989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37169-CB4C-D4E0-3566-DDAD7B7CD2F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0073A17-7ADF-073E-234E-8699EDC176E2}"/>
              </a:ext>
            </a:extLst>
          </p:cNvPr>
          <p:cNvSpPr txBox="1"/>
          <p:nvPr/>
        </p:nvSpPr>
        <p:spPr>
          <a:xfrm>
            <a:off x="0" y="0"/>
            <a:ext cx="12192000" cy="523220"/>
          </a:xfrm>
          <a:prstGeom prst="rect">
            <a:avLst/>
          </a:prstGeom>
          <a:solidFill>
            <a:schemeClr val="bg1">
              <a:lumMod val="85000"/>
            </a:schemeClr>
          </a:solidFill>
        </p:spPr>
        <p:txBody>
          <a:bodyPr wrap="square" rtlCol="0">
            <a:spAutoFit/>
          </a:bodyPr>
          <a:lstStyle/>
          <a:p>
            <a:r>
              <a:rPr lang="ja-JP" altLang="en-US" sz="2800"/>
              <a:t>まとめ</a:t>
            </a:r>
            <a:endParaRPr kumimoji="1" lang="ja-JP" altLang="en-US" sz="2800"/>
          </a:p>
        </p:txBody>
      </p:sp>
      <p:sp>
        <p:nvSpPr>
          <p:cNvPr id="5" name="テキスト ボックス 4">
            <a:extLst>
              <a:ext uri="{FF2B5EF4-FFF2-40B4-BE49-F238E27FC236}">
                <a16:creationId xmlns:a16="http://schemas.microsoft.com/office/drawing/2014/main" id="{2DCD8D56-AF26-0EAB-DFEA-10F2AF537361}"/>
              </a:ext>
            </a:extLst>
          </p:cNvPr>
          <p:cNvSpPr txBox="1"/>
          <p:nvPr/>
        </p:nvSpPr>
        <p:spPr>
          <a:xfrm>
            <a:off x="0" y="523220"/>
            <a:ext cx="12192000" cy="2031325"/>
          </a:xfrm>
          <a:prstGeom prst="rect">
            <a:avLst/>
          </a:prstGeom>
          <a:noFill/>
        </p:spPr>
        <p:txBody>
          <a:bodyPr wrap="square" rtlCol="0">
            <a:spAutoFit/>
          </a:bodyPr>
          <a:lstStyle/>
          <a:p>
            <a:pPr marL="285750" indent="-285750">
              <a:buFont typeface="Wingdings" pitchFamily="2" charset="2"/>
              <a:buChar char="ü"/>
            </a:pPr>
            <a:r>
              <a:rPr kumimoji="1" lang="ja-JP" altLang="en-US"/>
              <a:t>上位</a:t>
            </a:r>
            <a:r>
              <a:rPr kumimoji="1" lang="en-US" altLang="ja-JP"/>
              <a:t>0.005%</a:t>
            </a:r>
            <a:r>
              <a:rPr kumimoji="1" lang="ja-JP" altLang="en-US"/>
              <a:t>の</a:t>
            </a:r>
            <a:r>
              <a:rPr kumimoji="1" lang="en-US" altLang="ja-JP"/>
              <a:t>1000</a:t>
            </a:r>
            <a:r>
              <a:rPr kumimoji="1" lang="ja-JP" altLang="en-US"/>
              <a:t>論文</a:t>
            </a:r>
            <a:r>
              <a:rPr lang="ja-JP" altLang="en-US"/>
              <a:t>が</a:t>
            </a:r>
            <a:r>
              <a:rPr kumimoji="1" lang="ja-JP" altLang="en-US"/>
              <a:t>被引用全体の</a:t>
            </a:r>
            <a:r>
              <a:rPr kumimoji="1" lang="en-US" altLang="ja-JP"/>
              <a:t>1.7%</a:t>
            </a:r>
            <a:r>
              <a:rPr kumimoji="1" lang="ja-JP" altLang="en-US"/>
              <a:t>を受けている</a:t>
            </a:r>
            <a:endParaRPr kumimoji="1" lang="en-US" altLang="ja-JP"/>
          </a:p>
          <a:p>
            <a:pPr marL="285750" indent="-285750">
              <a:buFont typeface="Wingdings" pitchFamily="2" charset="2"/>
              <a:buChar char="ü"/>
            </a:pPr>
            <a:r>
              <a:rPr kumimoji="1" lang="ja-JP" altLang="en-US"/>
              <a:t>これらの出版は</a:t>
            </a:r>
            <a:r>
              <a:rPr kumimoji="1" lang="en-US" altLang="ja-JP"/>
              <a:t>10~14</a:t>
            </a:r>
            <a:r>
              <a:rPr kumimoji="1" lang="ja-JP" altLang="en-US"/>
              <a:t>年前に行われているものが多い</a:t>
            </a:r>
            <a:endParaRPr kumimoji="1" lang="en-US" altLang="ja-JP"/>
          </a:p>
          <a:p>
            <a:pPr marL="285750" indent="-285750">
              <a:buFont typeface="Wingdings" pitchFamily="2" charset="2"/>
              <a:buChar char="ü"/>
            </a:pPr>
            <a:r>
              <a:rPr lang="ja-JP" altLang="en-US"/>
              <a:t>近年になるほど順位の入れ替わりが激しい</a:t>
            </a:r>
            <a:endParaRPr kumimoji="1" lang="en-US" altLang="ja-JP"/>
          </a:p>
          <a:p>
            <a:pPr marL="285750" indent="-285750">
              <a:buFont typeface="Wingdings" pitchFamily="2" charset="2"/>
              <a:buChar char="ü"/>
            </a:pPr>
            <a:r>
              <a:rPr kumimoji="1" lang="ja-JP" altLang="en-US"/>
              <a:t>オブソレッセンスが確認された論文はそうでない論文に比べ、ピークまでの期間が短い</a:t>
            </a:r>
            <a:endParaRPr kumimoji="1" lang="en-US" altLang="ja-JP"/>
          </a:p>
          <a:p>
            <a:pPr marL="742950" lvl="1" indent="-285750">
              <a:buFont typeface="Wingdings" pitchFamily="2" charset="2"/>
              <a:buChar char="ü"/>
            </a:pPr>
            <a:r>
              <a:rPr kumimoji="1" lang="ja-JP" altLang="en-US"/>
              <a:t>この期間は既存の報告と整合的であることから時代を通して安定していると考えられる</a:t>
            </a:r>
            <a:endParaRPr kumimoji="1" lang="en-US" altLang="ja-JP"/>
          </a:p>
          <a:p>
            <a:pPr marL="285750" indent="-285750">
              <a:buFont typeface="Wingdings" pitchFamily="2" charset="2"/>
              <a:buChar char="ü"/>
            </a:pPr>
            <a:r>
              <a:rPr lang="ja-JP" altLang="en-US"/>
              <a:t>オブソレッセンスが確認された論文とそうでない論文の間に多峰性の差は極めて小さく、モデルとしては関係しないと（揺らぎである）考えられる</a:t>
            </a:r>
            <a:endParaRPr kumimoji="1" lang="ja-JP" altLang="en-US"/>
          </a:p>
        </p:txBody>
      </p:sp>
      <p:sp>
        <p:nvSpPr>
          <p:cNvPr id="10" name="テキスト ボックス 9">
            <a:extLst>
              <a:ext uri="{FF2B5EF4-FFF2-40B4-BE49-F238E27FC236}">
                <a16:creationId xmlns:a16="http://schemas.microsoft.com/office/drawing/2014/main" id="{04A7145A-DB62-E8E2-DD1C-3489B85FA0E4}"/>
              </a:ext>
            </a:extLst>
          </p:cNvPr>
          <p:cNvSpPr txBox="1"/>
          <p:nvPr/>
        </p:nvSpPr>
        <p:spPr>
          <a:xfrm>
            <a:off x="0" y="2554545"/>
            <a:ext cx="6474849" cy="923330"/>
          </a:xfrm>
          <a:prstGeom prst="rect">
            <a:avLst/>
          </a:prstGeom>
          <a:noFill/>
        </p:spPr>
        <p:txBody>
          <a:bodyPr wrap="none" rtlCol="0">
            <a:spAutoFit/>
          </a:bodyPr>
          <a:lstStyle/>
          <a:p>
            <a:r>
              <a:rPr kumimoji="1" lang="ja-JP" altLang="en-US"/>
              <a:t>課題：</a:t>
            </a:r>
            <a:endParaRPr kumimoji="1" lang="en-US" altLang="ja-JP"/>
          </a:p>
          <a:p>
            <a:pPr marL="285750" indent="-285750">
              <a:buFont typeface="Arial" panose="020B0604020202020204" pitchFamily="34" charset="0"/>
              <a:buChar char="•"/>
            </a:pPr>
            <a:r>
              <a:rPr lang="ja-JP" altLang="en-US"/>
              <a:t>高被引用論文との比較グループの構成が困難</a:t>
            </a:r>
            <a:endParaRPr lang="en-US" altLang="ja-JP"/>
          </a:p>
          <a:p>
            <a:pPr marL="285750" indent="-285750">
              <a:buFont typeface="Arial" panose="020B0604020202020204" pitchFamily="34" charset="0"/>
              <a:buChar char="•"/>
            </a:pPr>
            <a:r>
              <a:rPr kumimoji="1" lang="ja-JP" altLang="en-US"/>
              <a:t>既存の多峰性判定アルゴリズムの精度（制御）に難がある</a:t>
            </a:r>
          </a:p>
        </p:txBody>
      </p:sp>
    </p:spTree>
    <p:extLst>
      <p:ext uri="{BB962C8B-B14F-4D97-AF65-F5344CB8AC3E}">
        <p14:creationId xmlns:p14="http://schemas.microsoft.com/office/powerpoint/2010/main" val="22773126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9499</TotalTime>
  <Words>1089</Words>
  <Application>Microsoft Macintosh PowerPoint</Application>
  <PresentationFormat>ワイド画面</PresentationFormat>
  <Paragraphs>136</Paragraphs>
  <Slides>11</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游ゴシック</vt:lpstr>
      <vt:lpstr>游ゴシック Light</vt:lpstr>
      <vt:lpstr>Arial</vt:lpstr>
      <vt:lpstr>Wingdings</vt:lpstr>
      <vt:lpstr>Office テーマ</vt:lpstr>
      <vt:lpstr>医学生物学分野における高被引用論文の オブソレッセンス</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天野　晃</dc:creator>
  <cp:lastModifiedBy>天野　晃</cp:lastModifiedBy>
  <cp:revision>141</cp:revision>
  <dcterms:created xsi:type="dcterms:W3CDTF">2026-05-11T07:04:57Z</dcterms:created>
  <dcterms:modified xsi:type="dcterms:W3CDTF">2026-07-28T04:48:48Z</dcterms:modified>
</cp:coreProperties>
</file>